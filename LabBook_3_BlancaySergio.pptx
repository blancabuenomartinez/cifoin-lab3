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8"/>
  </p:notesMasterIdLst>
  <p:handoutMasterIdLst>
    <p:handoutMasterId r:id="rId19"/>
  </p:handoutMasterIdLst>
  <p:sldIdLst>
    <p:sldId id="256" r:id="rId5"/>
    <p:sldId id="289" r:id="rId6"/>
    <p:sldId id="290" r:id="rId7"/>
    <p:sldId id="296" r:id="rId8"/>
    <p:sldId id="375" r:id="rId9"/>
    <p:sldId id="376" r:id="rId10"/>
    <p:sldId id="389" r:id="rId11"/>
    <p:sldId id="392" r:id="rId12"/>
    <p:sldId id="377" r:id="rId13"/>
    <p:sldId id="388" r:id="rId14"/>
    <p:sldId id="391" r:id="rId15"/>
    <p:sldId id="397" r:id="rId16"/>
    <p:sldId id="288" r:id="rId17"/>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1B23D4-B7D0-47D6-AAF7-87352245CBDE}" v="17" dt="2026-05-28T15:48:58.921"/>
    <p1510:client id="{E2967B09-B9C2-4D6F-9705-78C5B1725C81}" v="60" dt="2026-05-28T17:01:02.62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60"/>
  </p:normalViewPr>
  <p:slideViewPr>
    <p:cSldViewPr snapToGrid="0">
      <p:cViewPr>
        <p:scale>
          <a:sx n="66" d="100"/>
          <a:sy n="66" d="100"/>
        </p:scale>
        <p:origin x="644" y="-11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29/05/2026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29/05/2026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a:t>Texto del contenido</a:t>
            </a:r>
          </a:p>
          <a:p>
            <a:pPr lvl="1"/>
            <a:r>
              <a:rPr lang="es-ES"/>
              <a:t>Segundo nivel</a:t>
            </a:r>
          </a:p>
          <a:p>
            <a:pPr lvl="2"/>
            <a:r>
              <a:rPr lang="es-ES"/>
              <a:t>Tercer nivel</a:t>
            </a:r>
          </a:p>
          <a:p>
            <a:pPr lvl="3"/>
            <a:r>
              <a:rPr lang="es-ES"/>
              <a:t>Cuarto nivel</a:t>
            </a:r>
          </a:p>
          <a:p>
            <a:pPr lvl="4"/>
            <a:r>
              <a:rPr lang="es-ES"/>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a:latin typeface="Lucida Sans"/>
                <a:cs typeface="Lucida Sans"/>
              </a:rPr>
              <a:t>Lab Book 3.0 Circuits and Compact </a:t>
            </a:r>
            <a:r>
              <a:rPr lang="es-ES" sz="3200" b="1" err="1">
                <a:latin typeface="Lucida Sans"/>
                <a:cs typeface="Lucida Sans"/>
              </a:rPr>
              <a:t>Models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a:latin typeface="Arial"/>
                <a:cs typeface="Arial"/>
              </a:rPr>
              <a:t>Student: Blanca Bueno Martínez y Sergio Diaz Jiménez</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a:solidFill>
                  <a:sysClr val="windowText" lastClr="000000"/>
                </a:solidFill>
              </a:rPr>
              <a:t>CIRCUITS_&amp;_</a:t>
            </a:r>
            <a:r>
              <a:rPr lang="en-US" kern="0" err="1">
                <a:solidFill>
                  <a:sysClr val="windowText" lastClr="000000"/>
                </a:solidFill>
              </a:rPr>
              <a:t>COMPACT_MODELS.ipynb</a:t>
            </a:r>
            <a:r>
              <a:rPr lang="en-US" kern="0">
                <a:solidFill>
                  <a:sysClr val="windowText" lastClr="000000"/>
                </a:solidFill>
              </a:rPr>
              <a:t> </a:t>
            </a:r>
          </a:p>
          <a:p>
            <a:pPr algn="just"/>
            <a:endParaRPr lang="en-US" b="1" i="1"/>
          </a:p>
          <a:p>
            <a:pPr algn="just"/>
            <a:r>
              <a:rPr lang="en-US" b="1" i="1"/>
              <a:t>Devices </a:t>
            </a:r>
            <a:r>
              <a:rPr lang="en-US" i="1"/>
              <a:t>to be studied:</a:t>
            </a:r>
            <a:endParaRPr lang="en-US" b="1" i="1"/>
          </a:p>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a:t>Ring Resonators (RR)</a:t>
            </a:r>
            <a:endParaRPr lang="en-US"/>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a:t>Mach-Zehnder Interferometer (MZI)</a:t>
            </a:r>
            <a:endParaRPr lang="en-US"/>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228A8A28-0D43-C564-7B6A-20F75755616A}"/>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#1a – Perfectly balanced MZI</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p>
        </p:txBody>
      </p:sp>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629399" y="1556991"/>
            <a:ext cx="5050811" cy="2895600"/>
          </a:xfrm>
          <a:prstGeom prst="rect">
            <a:avLst/>
          </a:prstGeom>
        </p:spPr>
        <p:txBody>
          <a:bodyPr>
            <a:normAutofit lnSpcReduction="10000"/>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the Compact Models and Circuit Model</a:t>
            </a:r>
          </a:p>
          <a:p>
            <a:pPr marL="342900" indent="-342900" algn="just">
              <a:buFont typeface="Arial" panose="020B0604020202020204" pitchFamily="34" charset="0"/>
              <a:buChar char="•"/>
            </a:pPr>
            <a:r>
              <a:rPr lang="en-US" sz="2000"/>
              <a:t>Describe how to </a:t>
            </a:r>
            <a:r>
              <a:rPr lang="es-ES" sz="2000" err="1"/>
              <a:t>simulate</a:t>
            </a:r>
            <a:r>
              <a:rPr lang="es-ES" sz="2000"/>
              <a:t> </a:t>
            </a:r>
            <a:r>
              <a:rPr lang="es-ES" sz="2000" err="1"/>
              <a:t>usin</a:t>
            </a:r>
            <a:r>
              <a:rPr lang="es-ES" sz="2000"/>
              <a:t> SAX </a:t>
            </a:r>
            <a:r>
              <a:rPr lang="es-ES" sz="2000" err="1"/>
              <a:t>library</a:t>
            </a:r>
            <a:endParaRPr lang="en-US" sz="2000"/>
          </a:p>
          <a:p>
            <a:pPr marL="342900" indent="-342900" algn="just">
              <a:buFont typeface="Arial" panose="020B0604020202020204" pitchFamily="34" charset="0"/>
              <a:buChar char="•"/>
            </a:pPr>
            <a:r>
              <a:rPr lang="en-US" sz="2000"/>
              <a:t>Describe the outputs.</a:t>
            </a:r>
          </a:p>
          <a:p>
            <a:pPr marL="0" indent="0" algn="just">
              <a:buNone/>
            </a:pPr>
            <a:r>
              <a:rPr lang="en-US" b="1"/>
              <a:t>ALL EXAMPLE #1: </a:t>
            </a:r>
          </a:p>
          <a:p>
            <a:pPr marL="0" indent="0" algn="just">
              <a:buNone/>
            </a:pPr>
            <a:r>
              <a:rPr lang="en-US" err="1"/>
              <a:t>wvl</a:t>
            </a:r>
            <a:r>
              <a:rPr lang="en-US"/>
              <a:t> [1500-1600] step 0.001</a:t>
            </a:r>
          </a:p>
          <a:p>
            <a:pPr marL="0" indent="0" algn="just">
              <a:buNone/>
            </a:pPr>
            <a:r>
              <a:rPr lang="en-US"/>
              <a:t>dL = 0</a:t>
            </a:r>
          </a:p>
          <a:p>
            <a:pPr marL="0" indent="0" algn="just">
              <a:buNone/>
            </a:pPr>
            <a:r>
              <a:rPr lang="en-US"/>
              <a:t>Kin = Kout = 0.5 for all </a:t>
            </a:r>
            <a:r>
              <a:rPr lang="en-US" err="1"/>
              <a:t>wvl</a:t>
            </a:r>
            <a:endParaRPr lang="en-US"/>
          </a:p>
          <a:p>
            <a:pPr algn="just"/>
            <a:endParaRPr lang="en-US" sz="2000" b="1" i="1"/>
          </a:p>
          <a:p>
            <a:pPr algn="just"/>
            <a:endParaRPr lang="en-US" sz="2000" kern="0">
              <a:solidFill>
                <a:sysClr val="windowText" lastClr="000000"/>
              </a:solidFill>
            </a:endParaRP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Document and comment your results</a:t>
            </a:r>
          </a:p>
          <a:p>
            <a:pPr algn="just"/>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Al ser un interferómetro perfectamente balanceado (MZI formado por acopladores 50/50), no existe diferencia de fase entre los dos caminos</a:t>
            </a:r>
            <a:r>
              <a:rPr lang="en-US" sz="1200" dirty="0">
                <a:latin typeface="Arial" panose="020B0604020202020204" pitchFamily="34" charset="0"/>
                <a:cs typeface="Arial" panose="020B0604020202020204" pitchFamily="34" charset="0"/>
              </a:rPr>
              <a:t>.</a:t>
            </a:r>
            <a:endParaRPr lang="es-ES" sz="1200" dirty="0">
              <a:latin typeface="Arial" panose="020B0604020202020204" pitchFamily="34" charset="0"/>
              <a:cs typeface="Arial" panose="020B0604020202020204" pitchFamily="34" charset="0"/>
            </a:endParaRPr>
          </a:p>
          <a:p>
            <a:pPr algn="just"/>
            <a:endParaRPr lang="es-E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En la gráfica se puede observar que el espectro es completamente plano. Como k=0.5, la potencia se recombina constructivamente en el puerto out1 y destructivamente en el puerto out0. Al no haber retardo diferencial, el dispositivo no filtra y mantiene una transmisión constante de 0 dB en out1 y nula en out0.</a:t>
            </a:r>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10" name="Imagen 9">
            <a:extLst>
              <a:ext uri="{FF2B5EF4-FFF2-40B4-BE49-F238E27FC236}">
                <a16:creationId xmlns:a16="http://schemas.microsoft.com/office/drawing/2014/main" id="{DECAF4DB-2B47-022D-8616-109FAFDD2F9D}"/>
              </a:ext>
            </a:extLst>
          </p:cNvPr>
          <p:cNvPicPr>
            <a:picLocks noChangeAspect="1"/>
          </p:cNvPicPr>
          <p:nvPr/>
        </p:nvPicPr>
        <p:blipFill>
          <a:blip r:embed="rId4"/>
          <a:stretch>
            <a:fillRect/>
          </a:stretch>
        </p:blipFill>
        <p:spPr>
          <a:xfrm>
            <a:off x="1254768" y="1509393"/>
            <a:ext cx="3881714" cy="3157827"/>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DA69D816-535A-F5EE-E106-BA148A1B2DF6}"/>
              </a:ext>
            </a:extLst>
          </p:cNvPr>
          <p:cNvSpPr/>
          <p:nvPr/>
        </p:nvSpPr>
        <p:spPr>
          <a:xfrm>
            <a:off x="6488518" y="1106712"/>
            <a:ext cx="5332571" cy="2010627"/>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a:p>
            <a:pPr algn="just"/>
            <a:endParaRPr lang="en-US" sz="1600">
              <a:solidFill>
                <a:schemeClr val="tx1"/>
              </a:solidFill>
              <a:latin typeface="Arial" panose="020B0604020202020204" pitchFamily="34" charset="0"/>
              <a:cs typeface="Arial" panose="020B0604020202020204" pitchFamily="34" charset="0"/>
            </a:endParaRPr>
          </a:p>
        </p:txBody>
      </p:sp>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#1b – Unbalanced MZI</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08B251FE-4B29-D52F-1DB1-9E5BBD8CFF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a:p>
        </p:txBody>
      </p:sp>
      <p:sp>
        <p:nvSpPr>
          <p:cNvPr id="4" name="Marcador de texto 2">
            <a:extLst>
              <a:ext uri="{FF2B5EF4-FFF2-40B4-BE49-F238E27FC236}">
                <a16:creationId xmlns:a16="http://schemas.microsoft.com/office/drawing/2014/main" id="{0E86A2CB-D14B-54A7-9376-DAE1E4FF0284}"/>
              </a:ext>
            </a:extLst>
          </p:cNvPr>
          <p:cNvSpPr txBox="1">
            <a:spLocks/>
          </p:cNvSpPr>
          <p:nvPr/>
        </p:nvSpPr>
        <p:spPr>
          <a:xfrm>
            <a:off x="6629397" y="1191148"/>
            <a:ext cx="5050811" cy="2895600"/>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s-ES" b="1"/>
              <a:t>HINTS</a:t>
            </a:r>
            <a:r>
              <a:rPr lang="en-US" b="1"/>
              <a:t>: </a:t>
            </a:r>
          </a:p>
          <a:p>
            <a:pPr marL="0" indent="0" algn="just">
              <a:buNone/>
            </a:pPr>
            <a:r>
              <a:rPr lang="en-US" err="1"/>
              <a:t>wvl</a:t>
            </a:r>
            <a:r>
              <a:rPr lang="en-US"/>
              <a:t> [1500-1600] step 0.001</a:t>
            </a:r>
          </a:p>
          <a:p>
            <a:pPr algn="just"/>
            <a:r>
              <a:rPr lang="en-US"/>
              <a:t>dL = </a:t>
            </a:r>
            <a:r>
              <a:rPr lang="en-US">
                <a:latin typeface="Arial" panose="020B0604020202020204" pitchFamily="34" charset="0"/>
                <a:cs typeface="Arial" panose="020B0604020202020204" pitchFamily="34" charset="0"/>
                <a:sym typeface="Wingdings" pitchFamily="2" charset="2"/>
              </a:rPr>
              <a:t>100 µm</a:t>
            </a:r>
            <a:endParaRPr lang="en-US"/>
          </a:p>
          <a:p>
            <a:pPr marL="0" indent="0" algn="just">
              <a:buNone/>
            </a:pPr>
            <a:r>
              <a:rPr lang="en-US"/>
              <a:t>Kin = Kout = 0.5 for all </a:t>
            </a:r>
            <a:r>
              <a:rPr lang="en-US" err="1"/>
              <a:t>wvl</a:t>
            </a:r>
            <a:endParaRPr lang="en-US"/>
          </a:p>
          <a:p>
            <a:pPr algn="just"/>
            <a:endParaRPr lang="en-US" sz="2000" b="1" i="1"/>
          </a:p>
          <a:p>
            <a:pPr algn="just"/>
            <a:endParaRPr lang="en-US" sz="2000" kern="0">
              <a:solidFill>
                <a:sysClr val="windowText" lastClr="000000"/>
              </a:solidFill>
            </a:endParaRP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50C41089-061E-9B39-3904-6F31AFE073B8}"/>
                  </a:ext>
                </a:extLst>
              </p:cNvPr>
              <p:cNvSpPr txBox="1"/>
              <p:nvPr/>
            </p:nvSpPr>
            <p:spPr>
              <a:xfrm>
                <a:off x="621118" y="4442102"/>
                <a:ext cx="11199971" cy="18994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describe the transfer function, which is the FSR? How is it related to the length difference among arms? </a:t>
                </a:r>
              </a:p>
              <a:p>
                <a:pPr algn="just"/>
                <a:r>
                  <a:rPr lang="en-US" sz="1200" dirty="0">
                    <a:latin typeface="Arial" panose="020B0604020202020204" pitchFamily="34" charset="0"/>
                    <a:cs typeface="Arial" panose="020B0604020202020204" pitchFamily="34" charset="0"/>
                  </a:rPr>
                  <a:t>En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vemos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respuesta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senoidal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lugar</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respuesta</a:t>
                </a:r>
                <a:r>
                  <a:rPr lang="en-US" sz="1200" dirty="0">
                    <a:latin typeface="Arial" panose="020B0604020202020204" pitchFamily="34" charset="0"/>
                    <a:cs typeface="Arial" panose="020B0604020202020204" pitchFamily="34" charset="0"/>
                  </a:rPr>
                  <a:t> plana. </a:t>
                </a:r>
                <a:r>
                  <a:rPr lang="en-US" sz="1200" dirty="0" err="1">
                    <a:latin typeface="Arial" panose="020B0604020202020204" pitchFamily="34" charset="0"/>
                    <a:cs typeface="Arial" panose="020B0604020202020204" pitchFamily="34" charset="0"/>
                  </a:rPr>
                  <a:t>Debido</a:t>
                </a:r>
                <a:r>
                  <a:rPr lang="en-US" sz="1200" dirty="0">
                    <a:latin typeface="Arial" panose="020B0604020202020204" pitchFamily="34" charset="0"/>
                    <a:cs typeface="Arial" panose="020B0604020202020204" pitchFamily="34" charset="0"/>
                  </a:rPr>
                  <a:t> a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∆L = 100 µm, la potencia de entrada oscila entre los puertos de salida out0 y out1 en función de la longitud de onda.</a:t>
                </a:r>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El FSR es la separación entre dos máximos o mínimos consecutivos de la respuesta del MZI y, es inversamente proporcional a la diferencia de longitud. A mayor ∆L, las franjas de las interferencias estarán más juntas (menor FSR).</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Show a numeric calculation of the FSR and length difference matching the results in the graph.</a:t>
                </a:r>
              </a:p>
              <a:p>
                <a:pPr algn="just"/>
                <a:r>
                  <a:rPr lang="en-US" sz="1200" dirty="0" err="1">
                    <a:latin typeface="Arial" panose="020B0604020202020204" pitchFamily="34" charset="0"/>
                    <a:cs typeface="Arial" panose="020B0604020202020204" pitchFamily="34" charset="0"/>
                  </a:rPr>
                  <a:t>Utilizando</a:t>
                </a:r>
                <a:r>
                  <a:rPr lang="en-US" sz="1200" dirty="0">
                    <a:latin typeface="Arial" panose="020B0604020202020204" pitchFamily="34" charset="0"/>
                    <a:cs typeface="Arial" panose="020B0604020202020204" pitchFamily="34" charset="0"/>
                  </a:rPr>
                  <a:t> </a:t>
                </a:r>
                <a:r>
                  <a:rPr lang="el-GR" sz="1200" dirty="0">
                    <a:latin typeface="Arial" panose="020B0604020202020204" pitchFamily="34" charset="0"/>
                    <a:cs typeface="Arial" panose="020B0604020202020204" pitchFamily="34" charset="0"/>
                  </a:rPr>
                  <a:t>λ</a:t>
                </a:r>
                <a:r>
                  <a:rPr lang="es-ES" sz="1200" dirty="0">
                    <a:latin typeface="Arial" panose="020B0604020202020204" pitchFamily="34" charset="0"/>
                    <a:cs typeface="Arial" panose="020B0604020202020204" pitchFamily="34" charset="0"/>
                  </a:rPr>
                  <a:t>=1.55 µm, ng=2 y ∆L = 100 µm </a:t>
                </a:r>
                <a:r>
                  <a:rPr lang="es-ES" sz="1200" dirty="0">
                    <a:latin typeface="Arial" panose="020B0604020202020204" pitchFamily="34" charset="0"/>
                    <a:cs typeface="Arial" panose="020B0604020202020204" pitchFamily="34" charset="0"/>
                    <a:sym typeface="Wingdings" panose="05000000000000000000" pitchFamily="2" charset="2"/>
                  </a:rPr>
                  <a:t> </a:t>
                </a:r>
                <a14:m>
                  <m:oMath xmlns:m="http://schemas.openxmlformats.org/officeDocument/2006/math">
                    <m:sSub>
                      <m:sSubPr>
                        <m:ctrlPr>
                          <a:rPr lang="es-ES" sz="1200" i="1" smtClean="0">
                            <a:latin typeface="Cambria Math" panose="02040503050406030204" pitchFamily="18" charset="0"/>
                            <a:ea typeface="Cambria Math" panose="02040503050406030204" pitchFamily="18" charset="0"/>
                            <a:sym typeface="Wingdings" panose="05000000000000000000" pitchFamily="2" charset="2"/>
                          </a:rPr>
                        </m:ctrlPr>
                      </m:sSubPr>
                      <m:e>
                        <m:r>
                          <a:rPr lang="es-ES" sz="1200" i="1">
                            <a:latin typeface="Cambria Math" panose="02040503050406030204" pitchFamily="18" charset="0"/>
                            <a:ea typeface="Cambria Math" panose="02040503050406030204" pitchFamily="18" charset="0"/>
                            <a:sym typeface="Wingdings" panose="05000000000000000000" pitchFamily="2" charset="2"/>
                          </a:rPr>
                          <m:t>∆</m:t>
                        </m:r>
                        <m:r>
                          <a:rPr lang="es-ES" sz="1200" i="1">
                            <a:latin typeface="Cambria Math" panose="02040503050406030204" pitchFamily="18" charset="0"/>
                            <a:ea typeface="Cambria Math" panose="02040503050406030204" pitchFamily="18" charset="0"/>
                            <a:sym typeface="Wingdings" panose="05000000000000000000" pitchFamily="2" charset="2"/>
                          </a:rPr>
                          <m:t>𝜆</m:t>
                        </m:r>
                      </m:e>
                      <m:sub>
                        <m:r>
                          <a:rPr lang="es-ES" sz="1200" b="0" i="1" smtClean="0">
                            <a:latin typeface="Cambria Math" panose="02040503050406030204" pitchFamily="18" charset="0"/>
                            <a:ea typeface="Cambria Math" panose="02040503050406030204" pitchFamily="18" charset="0"/>
                            <a:sym typeface="Wingdings" panose="05000000000000000000" pitchFamily="2" charset="2"/>
                          </a:rPr>
                          <m:t>𝐹𝑅𝑆</m:t>
                        </m:r>
                      </m:sub>
                    </m:sSub>
                    <m:r>
                      <a:rPr lang="es-ES" sz="1200" b="0" i="1" smtClean="0">
                        <a:latin typeface="Cambria Math" panose="02040503050406030204" pitchFamily="18" charset="0"/>
                        <a:ea typeface="Cambria Math" panose="02040503050406030204" pitchFamily="18" charset="0"/>
                        <a:sym typeface="Wingdings" panose="05000000000000000000" pitchFamily="2" charset="2"/>
                      </a:rPr>
                      <m:t>=</m:t>
                    </m:r>
                    <m:f>
                      <m:fPr>
                        <m:ctrlPr>
                          <a:rPr lang="es-ES" sz="1200" b="0" i="1" smtClean="0">
                            <a:latin typeface="Cambria Math" panose="02040503050406030204" pitchFamily="18" charset="0"/>
                            <a:ea typeface="Cambria Math" panose="02040503050406030204" pitchFamily="18" charset="0"/>
                            <a:sym typeface="Wingdings" panose="05000000000000000000" pitchFamily="2" charset="2"/>
                          </a:rPr>
                        </m:ctrlPr>
                      </m:fPr>
                      <m:num>
                        <m:sSup>
                          <m:sSupPr>
                            <m:ctrlPr>
                              <a:rPr lang="es-ES" sz="1200" b="0" i="1" smtClean="0">
                                <a:latin typeface="Cambria Math" panose="02040503050406030204" pitchFamily="18" charset="0"/>
                                <a:ea typeface="Cambria Math" panose="02040503050406030204" pitchFamily="18" charset="0"/>
                                <a:sym typeface="Wingdings" panose="05000000000000000000" pitchFamily="2" charset="2"/>
                              </a:rPr>
                            </m:ctrlPr>
                          </m:sSupPr>
                          <m:e>
                            <m:r>
                              <a:rPr lang="es-ES" sz="1200" b="0" i="1" smtClean="0">
                                <a:latin typeface="Cambria Math" panose="02040503050406030204" pitchFamily="18" charset="0"/>
                                <a:ea typeface="Cambria Math" panose="02040503050406030204" pitchFamily="18" charset="0"/>
                                <a:sym typeface="Wingdings" panose="05000000000000000000" pitchFamily="2" charset="2"/>
                              </a:rPr>
                              <m:t>𝜆</m:t>
                            </m:r>
                          </m:e>
                          <m:sup>
                            <m:r>
                              <a:rPr lang="es-ES" sz="1200" b="0" i="1" smtClean="0">
                                <a:latin typeface="Cambria Math" panose="02040503050406030204" pitchFamily="18" charset="0"/>
                                <a:ea typeface="Cambria Math" panose="02040503050406030204" pitchFamily="18" charset="0"/>
                                <a:sym typeface="Wingdings" panose="05000000000000000000" pitchFamily="2" charset="2"/>
                              </a:rPr>
                              <m:t>2</m:t>
                            </m:r>
                          </m:sup>
                        </m:sSup>
                      </m:num>
                      <m:den>
                        <m:sSub>
                          <m:sSubPr>
                            <m:ctrlPr>
                              <a:rPr lang="es-ES" sz="12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s-ES" sz="1200" b="0" i="1" smtClean="0">
                                <a:latin typeface="Cambria Math" panose="02040503050406030204" pitchFamily="18" charset="0"/>
                                <a:ea typeface="Cambria Math" panose="02040503050406030204" pitchFamily="18" charset="0"/>
                                <a:sym typeface="Wingdings" panose="05000000000000000000" pitchFamily="2" charset="2"/>
                              </a:rPr>
                              <m:t>𝑛</m:t>
                            </m:r>
                          </m:e>
                          <m:sub>
                            <m:r>
                              <a:rPr lang="es-ES" sz="1200" b="0" i="1" smtClean="0">
                                <a:latin typeface="Cambria Math" panose="02040503050406030204" pitchFamily="18" charset="0"/>
                                <a:ea typeface="Cambria Math" panose="02040503050406030204" pitchFamily="18" charset="0"/>
                                <a:sym typeface="Wingdings" panose="05000000000000000000" pitchFamily="2" charset="2"/>
                              </a:rPr>
                              <m:t>𝑔</m:t>
                            </m:r>
                          </m:sub>
                        </m:sSub>
                        <m:r>
                          <a:rPr lang="es-ES" sz="1200" b="0" i="1" smtClean="0">
                            <a:latin typeface="Cambria Math" panose="02040503050406030204" pitchFamily="18" charset="0"/>
                            <a:ea typeface="Cambria Math" panose="02040503050406030204" pitchFamily="18" charset="0"/>
                            <a:sym typeface="Wingdings" panose="05000000000000000000" pitchFamily="2" charset="2"/>
                          </a:rPr>
                          <m:t>∙∆</m:t>
                        </m:r>
                        <m:r>
                          <a:rPr lang="es-ES" sz="1200" b="0" i="1" smtClean="0">
                            <a:latin typeface="Cambria Math" panose="02040503050406030204" pitchFamily="18" charset="0"/>
                            <a:ea typeface="Cambria Math" panose="02040503050406030204" pitchFamily="18" charset="0"/>
                            <a:sym typeface="Wingdings" panose="05000000000000000000" pitchFamily="2" charset="2"/>
                          </a:rPr>
                          <m:t>𝐿</m:t>
                        </m:r>
                      </m:den>
                    </m:f>
                  </m:oMath>
                </a14:m>
                <a:r>
                  <a:rPr lang="es-ES" sz="1200" dirty="0">
                    <a:latin typeface="Arial" panose="020B0604020202020204" pitchFamily="34" charset="0"/>
                    <a:cs typeface="Arial" panose="020B0604020202020204" pitchFamily="34" charset="0"/>
                  </a:rPr>
                  <a:t>=12.01nm</a:t>
                </a:r>
              </a:p>
              <a:p>
                <a:pPr algn="just"/>
                <a:r>
                  <a:rPr lang="en-US" sz="1200" dirty="0">
                    <a:latin typeface="Arial" panose="020B0604020202020204" pitchFamily="34" charset="0"/>
                    <a:cs typeface="Arial" panose="020B0604020202020204" pitchFamily="34" charset="0"/>
                  </a:rPr>
                  <a:t>Este </a:t>
                </a:r>
                <a:r>
                  <a:rPr lang="en-US" sz="1200" dirty="0" err="1">
                    <a:latin typeface="Arial" panose="020B0604020202020204" pitchFamily="34" charset="0"/>
                    <a:cs typeface="Arial" panose="020B0604020202020204" pitchFamily="34" charset="0"/>
                  </a:rPr>
                  <a:t>cálculo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concide</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comportamiento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que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ve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gráfica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donde</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aprecian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aproximadamente</a:t>
                </a:r>
                <a:r>
                  <a:rPr lang="en-US" sz="1200" dirty="0">
                    <a:latin typeface="Arial" panose="020B0604020202020204" pitchFamily="34" charset="0"/>
                    <a:cs typeface="Arial" panose="020B0604020202020204" pitchFamily="34" charset="0"/>
                  </a:rPr>
                  <a:t> 8.3 </a:t>
                </a:r>
                <a:r>
                  <a:rPr lang="en-US" sz="1200" dirty="0" err="1">
                    <a:latin typeface="Arial" panose="020B0604020202020204" pitchFamily="34" charset="0"/>
                    <a:cs typeface="Arial" panose="020B0604020202020204" pitchFamily="34" charset="0"/>
                  </a:rPr>
                  <a:t>ciclos</a:t>
                </a:r>
                <a:r>
                  <a:rPr lang="en-US" sz="1200" dirty="0">
                    <a:latin typeface="Arial" panose="020B0604020202020204" pitchFamily="34" charset="0"/>
                    <a:cs typeface="Arial" panose="020B0604020202020204" pitchFamily="34" charset="0"/>
                  </a:rPr>
                  <a:t> (100/12.01=8.3)</a:t>
                </a:r>
              </a:p>
            </p:txBody>
          </p:sp>
        </mc:Choice>
        <mc:Fallback>
          <p:sp>
            <p:nvSpPr>
              <p:cNvPr id="2" name="CuadroTexto 1">
                <a:extLst>
                  <a:ext uri="{FF2B5EF4-FFF2-40B4-BE49-F238E27FC236}">
                    <a16:creationId xmlns:a16="http://schemas.microsoft.com/office/drawing/2014/main" id="{50C41089-061E-9B39-3904-6F31AFE073B8}"/>
                  </a:ext>
                </a:extLst>
              </p:cNvPr>
              <p:cNvSpPr txBox="1">
                <a:spLocks noRot="1" noChangeAspect="1" noMove="1" noResize="1" noEditPoints="1" noAdjustHandles="1" noChangeArrowheads="1" noChangeShapeType="1" noTextEdit="1"/>
              </p:cNvSpPr>
              <p:nvPr/>
            </p:nvSpPr>
            <p:spPr>
              <a:xfrm>
                <a:off x="621118" y="4442102"/>
                <a:ext cx="11199971" cy="1899431"/>
              </a:xfrm>
              <a:prstGeom prst="rect">
                <a:avLst/>
              </a:prstGeom>
              <a:blipFill>
                <a:blip r:embed="rId4"/>
                <a:stretch>
                  <a:fillRect b="-633"/>
                </a:stretch>
              </a:blipFill>
              <a:ln w="28575">
                <a:solidFill>
                  <a:srgbClr val="E0700D"/>
                </a:solidFill>
              </a:ln>
            </p:spPr>
            <p:txBody>
              <a:bodyPr/>
              <a:lstStyle/>
              <a:p>
                <a:r>
                  <a:rPr lang="es-ES">
                    <a:noFill/>
                  </a:rPr>
                  <a:t> </a:t>
                </a:r>
              </a:p>
            </p:txBody>
          </p:sp>
        </mc:Fallback>
      </mc:AlternateContent>
      <p:sp>
        <p:nvSpPr>
          <p:cNvPr id="6" name="Rectángulo 5">
            <a:extLst>
              <a:ext uri="{FF2B5EF4-FFF2-40B4-BE49-F238E27FC236}">
                <a16:creationId xmlns:a16="http://schemas.microsoft.com/office/drawing/2014/main" id="{F95B976F-6522-EA3D-1323-5C97E9F88EDF}"/>
              </a:ext>
            </a:extLst>
          </p:cNvPr>
          <p:cNvSpPr/>
          <p:nvPr/>
        </p:nvSpPr>
        <p:spPr>
          <a:xfrm>
            <a:off x="681877" y="1079175"/>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8934523B-51D9-2926-EAC0-7EAD4D1D5B75}"/>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11" name="Imagen 10">
            <a:extLst>
              <a:ext uri="{FF2B5EF4-FFF2-40B4-BE49-F238E27FC236}">
                <a16:creationId xmlns:a16="http://schemas.microsoft.com/office/drawing/2014/main" id="{D4038A5B-EBC8-BF4D-F0F6-28478DBE84CA}"/>
              </a:ext>
            </a:extLst>
          </p:cNvPr>
          <p:cNvPicPr>
            <a:picLocks noChangeAspect="1"/>
          </p:cNvPicPr>
          <p:nvPr/>
        </p:nvPicPr>
        <p:blipFill>
          <a:blip r:embed="rId5"/>
          <a:stretch>
            <a:fillRect/>
          </a:stretch>
        </p:blipFill>
        <p:spPr>
          <a:xfrm>
            <a:off x="1301464" y="1106712"/>
            <a:ext cx="4093395" cy="3250954"/>
          </a:xfrm>
          <a:prstGeom prst="rect">
            <a:avLst/>
          </a:prstGeom>
        </p:spPr>
      </p:pic>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5</a:t>
            </a:fld>
            <a:endParaRPr lang="en-U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9601617-351E-AE1A-1F4D-693F2EA59361}"/>
                  </a:ext>
                </a:extLst>
              </p:cNvPr>
              <p:cNvSpPr txBox="1"/>
              <p:nvPr/>
            </p:nvSpPr>
            <p:spPr>
              <a:xfrm>
                <a:off x="611029" y="4860335"/>
                <a:ext cx="11199530"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a:latin typeface="Arial" panose="020B0604020202020204" pitchFamily="34" charset="0"/>
                    <a:cs typeface="Arial" panose="020B0604020202020204" pitchFamily="34" charset="0"/>
                  </a:rPr>
                  <a:t>Comment results:</a:t>
                </a:r>
              </a:p>
              <a:p>
                <a:pPr algn="just"/>
                <a:endParaRPr lang="en-U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Al simular con ∆L = 600.625 µm, en la gráfica se ve un patrón de interferencia con una densidad de franjas mucho mayor que en el ejercicio anterior.</a:t>
                </a:r>
              </a:p>
              <a:p>
                <a:pPr algn="just"/>
                <a:r>
                  <a:rPr lang="es-ES" sz="1200">
                    <a:latin typeface="Arial" panose="020B0604020202020204" pitchFamily="34" charset="0"/>
                    <a:cs typeface="Arial" panose="020B0604020202020204" pitchFamily="34" charset="0"/>
                  </a:rPr>
                  <a:t>En la gráfica superior, </a:t>
                </a:r>
                <a14:m>
                  <m:oMath xmlns:m="http://schemas.openxmlformats.org/officeDocument/2006/math">
                    <m:sSup>
                      <m:sSupPr>
                        <m:ctrlPr>
                          <a:rPr lang="es-ES" sz="1200" i="1" smtClean="0">
                            <a:latin typeface="Cambria Math" panose="02040503050406030204" pitchFamily="18" charset="0"/>
                            <a:cs typeface="Arial" panose="020B0604020202020204" pitchFamily="34" charset="0"/>
                          </a:rPr>
                        </m:ctrlPr>
                      </m:sSupPr>
                      <m:e>
                        <m:d>
                          <m:dPr>
                            <m:begChr m:val="|"/>
                            <m:endChr m:val="|"/>
                            <m:ctrlPr>
                              <a:rPr lang="es-ES" sz="1200" i="1">
                                <a:latin typeface="Cambria Math" panose="02040503050406030204" pitchFamily="18" charset="0"/>
                                <a:cs typeface="Arial" panose="020B0604020202020204" pitchFamily="34" charset="0"/>
                              </a:rPr>
                            </m:ctrlPr>
                          </m:dPr>
                          <m:e>
                            <m:r>
                              <a:rPr lang="es-ES" sz="1200" i="1">
                                <a:latin typeface="Cambria Math" panose="02040503050406030204" pitchFamily="18" charset="0"/>
                                <a:cs typeface="Arial" panose="020B0604020202020204" pitchFamily="34" charset="0"/>
                              </a:rPr>
                              <m:t>𝐻</m:t>
                            </m:r>
                          </m:e>
                        </m:d>
                      </m:e>
                      <m:sup>
                        <m:r>
                          <a:rPr lang="es-ES" sz="1200" i="1">
                            <a:latin typeface="Cambria Math" panose="02040503050406030204" pitchFamily="18" charset="0"/>
                            <a:cs typeface="Arial" panose="020B0604020202020204" pitchFamily="34" charset="0"/>
                          </a:rPr>
                          <m:t>2</m:t>
                        </m:r>
                      </m:sup>
                    </m:sSup>
                  </m:oMath>
                </a14:m>
                <a:r>
                  <a:rPr lang="en-US" sz="1200">
                    <a:latin typeface="Arial" panose="020B0604020202020204" pitchFamily="34" charset="0"/>
                    <a:cs typeface="Arial" panose="020B0604020202020204" pitchFamily="34" charset="0"/>
                  </a:rPr>
                  <a:t> lineal, la </a:t>
                </a:r>
                <a:r>
                  <a:rPr lang="en-US" sz="1200" err="1">
                    <a:latin typeface="Arial" panose="020B0604020202020204" pitchFamily="34" charset="0"/>
                    <a:cs typeface="Arial" panose="020B0604020202020204" pitchFamily="34" charset="0"/>
                  </a:rPr>
                  <a:t>separación</a:t>
                </a:r>
                <a:r>
                  <a:rPr lang="en-US" sz="1200">
                    <a:latin typeface="Arial" panose="020B0604020202020204" pitchFamily="34" charset="0"/>
                    <a:cs typeface="Arial" panose="020B0604020202020204" pitchFamily="34" charset="0"/>
                  </a:rPr>
                  <a:t> entre dos </a:t>
                </a:r>
                <a:r>
                  <a:rPr lang="en-US" sz="1200" err="1">
                    <a:latin typeface="Arial" panose="020B0604020202020204" pitchFamily="34" charset="0"/>
                    <a:cs typeface="Arial" panose="020B0604020202020204" pitchFamily="34" charset="0"/>
                  </a:rPr>
                  <a:t>picos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consecutivos</a:t>
                </a:r>
                <a:r>
                  <a:rPr lang="en-US" sz="1200">
                    <a:latin typeface="Arial" panose="020B0604020202020204" pitchFamily="34" charset="0"/>
                    <a:cs typeface="Arial" panose="020B0604020202020204" pitchFamily="34" charset="0"/>
                  </a:rPr>
                  <a:t> de la </a:t>
                </a:r>
                <a:r>
                  <a:rPr lang="en-US" sz="1200" err="1">
                    <a:latin typeface="Arial" panose="020B0604020202020204" pitchFamily="34" charset="0"/>
                    <a:cs typeface="Arial" panose="020B0604020202020204" pitchFamily="34" charset="0"/>
                  </a:rPr>
                  <a:t>misma</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señal</a:t>
                </a:r>
                <a:r>
                  <a:rPr lang="en-US" sz="1200">
                    <a:latin typeface="Arial" panose="020B0604020202020204" pitchFamily="34" charset="0"/>
                    <a:cs typeface="Arial" panose="020B0604020202020204" pitchFamily="34" charset="0"/>
                  </a:rPr>
                  <a:t> es </a:t>
                </a:r>
                <a:r>
                  <a:rPr lang="en-US" sz="1200" err="1">
                    <a:latin typeface="Arial" panose="020B0604020202020204" pitchFamily="34" charset="0"/>
                    <a:cs typeface="Arial" panose="020B0604020202020204" pitchFamily="34" charset="0"/>
                  </a:rPr>
                  <a:t>exactamente</a:t>
                </a:r>
                <a:r>
                  <a:rPr lang="en-US" sz="1200">
                    <a:latin typeface="Arial" panose="020B0604020202020204" pitchFamily="34" charset="0"/>
                    <a:cs typeface="Arial" panose="020B0604020202020204" pitchFamily="34" charset="0"/>
                  </a:rPr>
                  <a:t> 2 nm.</a:t>
                </a:r>
              </a:p>
              <a:p>
                <a:pPr algn="just"/>
                <a:r>
                  <a:rPr lang="en-US" sz="1200">
                    <a:latin typeface="Arial" panose="020B0604020202020204" pitchFamily="34" charset="0"/>
                    <a:cs typeface="Arial" panose="020B0604020202020204" pitchFamily="34" charset="0"/>
                  </a:rPr>
                  <a:t>En </a:t>
                </a:r>
                <a:r>
                  <a:rPr lang="en-US" sz="1200" err="1">
                    <a:latin typeface="Arial" panose="020B0604020202020204" pitchFamily="34" charset="0"/>
                    <a:cs typeface="Arial" panose="020B0604020202020204" pitchFamily="34" charset="0"/>
                  </a:rPr>
                  <a:t>este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ejercicio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vemos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que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retardo</a:t>
                </a:r>
                <a:r>
                  <a:rPr lang="en-US" sz="1200">
                    <a:latin typeface="Arial" panose="020B0604020202020204" pitchFamily="34" charset="0"/>
                    <a:cs typeface="Arial" panose="020B0604020202020204" pitchFamily="34" charset="0"/>
                  </a:rPr>
                  <a:t> es </a:t>
                </a:r>
                <a:r>
                  <a:rPr lang="en-US" sz="1200" err="1">
                    <a:latin typeface="Arial" panose="020B0604020202020204" pitchFamily="34" charset="0"/>
                    <a:cs typeface="Arial" panose="020B0604020202020204" pitchFamily="34" charset="0"/>
                  </a:rPr>
                  <a:t>preciso</a:t>
                </a:r>
                <a:r>
                  <a:rPr lang="en-US" sz="1200">
                    <a:latin typeface="Arial" panose="020B0604020202020204" pitchFamily="34" charset="0"/>
                    <a:cs typeface="Arial" panose="020B0604020202020204" pitchFamily="34" charset="0"/>
                  </a:rPr>
                  <a:t>, es </a:t>
                </a:r>
                <a:r>
                  <a:rPr lang="en-US" sz="1200" err="1">
                    <a:latin typeface="Arial" panose="020B0604020202020204" pitchFamily="34" charset="0"/>
                    <a:cs typeface="Arial" panose="020B0604020202020204" pitchFamily="34" charset="0"/>
                  </a:rPr>
                  <a:t>decir</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aumento</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en</a:t>
                </a:r>
                <a:r>
                  <a:rPr lang="en-US" sz="1200">
                    <a:latin typeface="Arial" panose="020B0604020202020204" pitchFamily="34" charset="0"/>
                    <a:cs typeface="Arial" panose="020B0604020202020204" pitchFamily="34" charset="0"/>
                  </a:rPr>
                  <a:t> la </a:t>
                </a:r>
                <a:r>
                  <a:rPr lang="en-US" sz="1200" err="1">
                    <a:latin typeface="Arial" panose="020B0604020202020204" pitchFamily="34" charset="0"/>
                    <a:cs typeface="Arial" panose="020B0604020202020204" pitchFamily="34" charset="0"/>
                  </a:rPr>
                  <a:t>diferencia</a:t>
                </a:r>
                <a:r>
                  <a:rPr lang="en-US" sz="1200">
                    <a:latin typeface="Arial" panose="020B0604020202020204" pitchFamily="34" charset="0"/>
                    <a:cs typeface="Arial" panose="020B0604020202020204" pitchFamily="34" charset="0"/>
                  </a:rPr>
                  <a:t> de </a:t>
                </a:r>
                <a:r>
                  <a:rPr lang="en-US" sz="1200" err="1">
                    <a:latin typeface="Arial" panose="020B0604020202020204" pitchFamily="34" charset="0"/>
                    <a:cs typeface="Arial" panose="020B0604020202020204" pitchFamily="34" charset="0"/>
                  </a:rPr>
                  <a:t>longitud</a:t>
                </a:r>
                <a:r>
                  <a:rPr lang="en-US" sz="1200">
                    <a:latin typeface="Arial" panose="020B0604020202020204" pitchFamily="34" charset="0"/>
                    <a:cs typeface="Arial" panose="020B0604020202020204" pitchFamily="34" charset="0"/>
                  </a:rPr>
                  <a:t> entre </a:t>
                </a:r>
                <a:r>
                  <a:rPr lang="en-US" sz="1200" err="1">
                    <a:latin typeface="Arial" panose="020B0604020202020204" pitchFamily="34" charset="0"/>
                    <a:cs typeface="Arial" panose="020B0604020202020204" pitchFamily="34" charset="0"/>
                  </a:rPr>
                  <a:t>los</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brazos</a:t>
                </a:r>
                <a:r>
                  <a:rPr lang="en-US" sz="1200">
                    <a:latin typeface="Arial" panose="020B0604020202020204" pitchFamily="34" charset="0"/>
                    <a:cs typeface="Arial" panose="020B0604020202020204" pitchFamily="34" charset="0"/>
                  </a:rPr>
                  <a:t> reduce </a:t>
                </a:r>
                <a:r>
                  <a:rPr lang="en-US" sz="1200" err="1">
                    <a:latin typeface="Arial" panose="020B0604020202020204" pitchFamily="34" charset="0"/>
                    <a:cs typeface="Arial" panose="020B0604020202020204" pitchFamily="34" charset="0"/>
                  </a:rPr>
                  <a:t>proporcionalmente</a:t>
                </a:r>
                <a:r>
                  <a:rPr lang="en-US" sz="1200">
                    <a:latin typeface="Arial" panose="020B0604020202020204" pitchFamily="34" charset="0"/>
                    <a:cs typeface="Arial" panose="020B0604020202020204" pitchFamily="34" charset="0"/>
                  </a:rPr>
                  <a:t> </a:t>
                </a:r>
                <a:r>
                  <a:rPr lang="en-US" sz="1200" err="1">
                    <a:latin typeface="Arial" panose="020B0604020202020204" pitchFamily="34" charset="0"/>
                    <a:cs typeface="Arial" panose="020B0604020202020204" pitchFamily="34" charset="0"/>
                  </a:rPr>
                  <a:t>el</a:t>
                </a:r>
                <a:r>
                  <a:rPr lang="en-US" sz="1200">
                    <a:latin typeface="Arial" panose="020B0604020202020204" pitchFamily="34" charset="0"/>
                    <a:cs typeface="Arial" panose="020B0604020202020204" pitchFamily="34" charset="0"/>
                  </a:rPr>
                  <a:t> FRS del </a:t>
                </a:r>
                <a:r>
                  <a:rPr lang="en-US" sz="1200" err="1">
                    <a:latin typeface="Arial" panose="020B0604020202020204" pitchFamily="34" charset="0"/>
                    <a:cs typeface="Arial" panose="020B0604020202020204" pitchFamily="34" charset="0"/>
                  </a:rPr>
                  <a:t>filtro</a:t>
                </a:r>
                <a:r>
                  <a:rPr lang="en-US" sz="1200">
                    <a:latin typeface="Arial" panose="020B0604020202020204" pitchFamily="34" charset="0"/>
                    <a:cs typeface="Arial" panose="020B0604020202020204" pitchFamily="34" charset="0"/>
                  </a:rPr>
                  <a:t>.</a:t>
                </a:r>
              </a:p>
              <a:p>
                <a:pPr algn="just"/>
                <a:endParaRPr lang="en-US" sz="1200">
                  <a:latin typeface="Arial" panose="020B0604020202020204" pitchFamily="34" charset="0"/>
                  <a:cs typeface="Arial" panose="020B0604020202020204" pitchFamily="34" charset="0"/>
                </a:endParaRPr>
              </a:p>
            </p:txBody>
          </p:sp>
        </mc:Choice>
        <mc:Fallback xmlns="">
          <p:sp>
            <p:nvSpPr>
              <p:cNvPr id="8" name="CuadroTexto 7">
                <a:extLst>
                  <a:ext uri="{FF2B5EF4-FFF2-40B4-BE49-F238E27FC236}">
                    <a16:creationId xmlns:a16="http://schemas.microsoft.com/office/drawing/2014/main" id="{D9601617-351E-AE1A-1F4D-693F2EA59361}"/>
                  </a:ext>
                </a:extLst>
              </p:cNvPr>
              <p:cNvSpPr txBox="1">
                <a:spLocks noRot="1" noChangeAspect="1" noMove="1" noResize="1" noEditPoints="1" noAdjustHandles="1" noChangeArrowheads="1" noChangeShapeType="1" noTextEdit="1"/>
              </p:cNvSpPr>
              <p:nvPr/>
            </p:nvSpPr>
            <p:spPr>
              <a:xfrm>
                <a:off x="611029" y="4860335"/>
                <a:ext cx="11199530" cy="1200329"/>
              </a:xfrm>
              <a:prstGeom prst="rect">
                <a:avLst/>
              </a:prstGeom>
              <a:blipFill>
                <a:blip r:embed="rId2"/>
                <a:stretch>
                  <a:fillRect/>
                </a:stretch>
              </a:blipFill>
              <a:ln w="28575">
                <a:solidFill>
                  <a:srgbClr val="E0700D"/>
                </a:solidFill>
              </a:ln>
            </p:spPr>
            <p:txBody>
              <a:bodyPr/>
              <a:lstStyle/>
              <a:p>
                <a:r>
                  <a:rPr lang="en-US">
                    <a:noFill/>
                  </a:rPr>
                  <a:t> </a:t>
                </a:r>
              </a:p>
            </p:txBody>
          </p:sp>
        </mc:Fallback>
      </mc:AlternateContent>
      <p:sp>
        <p:nvSpPr>
          <p:cNvPr id="11" name="Rectángulo 10">
            <a:extLst>
              <a:ext uri="{FF2B5EF4-FFF2-40B4-BE49-F238E27FC236}">
                <a16:creationId xmlns:a16="http://schemas.microsoft.com/office/drawing/2014/main" id="{B811A5F9-C0B5-716C-70FB-9472E1BC2CD3}"/>
              </a:ext>
            </a:extLst>
          </p:cNvPr>
          <p:cNvSpPr/>
          <p:nvPr/>
        </p:nvSpPr>
        <p:spPr>
          <a:xfrm>
            <a:off x="61103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5305711" y="2494307"/>
            <a:ext cx="2494977" cy="1015663"/>
          </a:xfrm>
          <a:prstGeom prst="rect">
            <a:avLst/>
          </a:prstGeom>
          <a:noFill/>
        </p:spPr>
        <p:txBody>
          <a:bodyPr wrap="none" rtlCol="0">
            <a:spAutoFit/>
          </a:bodyPr>
          <a:lstStyle/>
          <a:p>
            <a:pPr algn="ctr"/>
            <a:r>
              <a:rPr lang="es-ES" sz="2000"/>
              <a:t>MZI transfer </a:t>
            </a:r>
            <a:r>
              <a:rPr lang="es-ES" sz="2000" err="1"/>
              <a:t>functions</a:t>
            </a:r>
            <a:endParaRPr lang="en-US" sz="2000"/>
          </a:p>
          <a:p>
            <a:pPr algn="ctr"/>
            <a:endParaRPr lang="en-US" sz="2000"/>
          </a:p>
          <a:p>
            <a:pPr algn="ctr"/>
            <a:r>
              <a:rPr lang="en-US" sz="2000"/>
              <a:t>Paste plot here</a:t>
            </a:r>
          </a:p>
        </p:txBody>
      </p:sp>
      <p:sp>
        <p:nvSpPr>
          <p:cNvPr id="3" name="Rectángulo 2">
            <a:extLst>
              <a:ext uri="{FF2B5EF4-FFF2-40B4-BE49-F238E27FC236}">
                <a16:creationId xmlns:a16="http://schemas.microsoft.com/office/drawing/2014/main" id="{5FB43DF1-4048-35BF-BD58-4BF2A341D2EF}"/>
              </a:ext>
            </a:extLst>
          </p:cNvPr>
          <p:cNvSpPr/>
          <p:nvPr/>
        </p:nvSpPr>
        <p:spPr>
          <a:xfrm>
            <a:off x="8610601" y="1418373"/>
            <a:ext cx="3199959"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b="1">
                <a:solidFill>
                  <a:schemeClr val="tx1"/>
                </a:solidFill>
                <a:latin typeface="Arial" panose="020B0604020202020204" pitchFamily="34" charset="0"/>
                <a:cs typeface="Arial" panose="020B0604020202020204" pitchFamily="34" charset="0"/>
              </a:rPr>
              <a:t>Hints:</a:t>
            </a:r>
            <a:endParaRPr lang="en-US">
              <a:solidFill>
                <a:schemeClr val="tx1"/>
              </a:solidFill>
              <a:latin typeface="Arial" panose="020B0604020202020204" pitchFamily="34" charset="0"/>
              <a:cs typeface="Arial" panose="020B0604020202020204" pitchFamily="34" charset="0"/>
            </a:endParaRPr>
          </a:p>
          <a:p>
            <a:pPr algn="just"/>
            <a:r>
              <a:rPr lang="en-US" err="1">
                <a:solidFill>
                  <a:schemeClr val="tx1"/>
                </a:solidFill>
                <a:latin typeface="Arial" panose="020B0604020202020204" pitchFamily="34" charset="0"/>
                <a:cs typeface="Arial" panose="020B0604020202020204" pitchFamily="34" charset="0"/>
                <a:sym typeface="Wingdings" pitchFamily="2" charset="2"/>
              </a:rPr>
              <a:t>wvl</a:t>
            </a:r>
            <a:r>
              <a:rPr lang="en-US">
                <a:solidFill>
                  <a:schemeClr val="tx1"/>
                </a:solidFill>
                <a:latin typeface="Arial" panose="020B0604020202020204" pitchFamily="34" charset="0"/>
                <a:cs typeface="Arial" panose="020B0604020202020204" pitchFamily="34" charset="0"/>
                <a:sym typeface="Wingdings" pitchFamily="2" charset="2"/>
              </a:rPr>
              <a:t> [1500-1600] step 0.001</a:t>
            </a:r>
          </a:p>
          <a:p>
            <a:pPr algn="just"/>
            <a:r>
              <a:rPr lang="en-US">
                <a:solidFill>
                  <a:schemeClr val="tx1"/>
                </a:solidFill>
                <a:latin typeface="Arial" panose="020B0604020202020204" pitchFamily="34" charset="0"/>
                <a:cs typeface="Arial" panose="020B0604020202020204" pitchFamily="34" charset="0"/>
                <a:sym typeface="Wingdings" pitchFamily="2" charset="2"/>
              </a:rPr>
              <a:t>dL = ? µm </a:t>
            </a:r>
            <a:r>
              <a:rPr lang="en-US" b="1">
                <a:solidFill>
                  <a:schemeClr val="tx1"/>
                </a:solidFill>
                <a:latin typeface="Arial" panose="020B0604020202020204" pitchFamily="34" charset="0"/>
                <a:cs typeface="Arial" panose="020B0604020202020204" pitchFamily="34" charset="0"/>
                <a:sym typeface="Wingdings" pitchFamily="2" charset="2"/>
              </a:rPr>
              <a:t>calculate for FSR = 2 nm </a:t>
            </a:r>
          </a:p>
          <a:p>
            <a:pPr algn="just"/>
            <a:r>
              <a:rPr lang="en-US">
                <a:solidFill>
                  <a:schemeClr val="tx1"/>
                </a:solidFill>
                <a:latin typeface="Arial" panose="020B0604020202020204" pitchFamily="34" charset="0"/>
                <a:cs typeface="Arial" panose="020B0604020202020204" pitchFamily="34" charset="0"/>
                <a:sym typeface="Wingdings" pitchFamily="2" charset="2"/>
              </a:rPr>
              <a:t>Ka = </a:t>
            </a:r>
            <a:r>
              <a:rPr lang="en-US" err="1">
                <a:solidFill>
                  <a:schemeClr val="tx1"/>
                </a:solidFill>
                <a:latin typeface="Arial" panose="020B0604020202020204" pitchFamily="34" charset="0"/>
                <a:cs typeface="Arial" panose="020B0604020202020204" pitchFamily="34" charset="0"/>
                <a:sym typeface="Wingdings" pitchFamily="2" charset="2"/>
              </a:rPr>
              <a:t>Kb</a:t>
            </a:r>
            <a:r>
              <a:rPr lang="en-US">
                <a:solidFill>
                  <a:schemeClr val="tx1"/>
                </a:solidFill>
                <a:latin typeface="Arial" panose="020B0604020202020204" pitchFamily="34" charset="0"/>
                <a:cs typeface="Arial" panose="020B0604020202020204" pitchFamily="34" charset="0"/>
                <a:sym typeface="Wingdings" pitchFamily="2" charset="2"/>
              </a:rPr>
              <a:t> = 0.5 for all </a:t>
            </a:r>
            <a:r>
              <a:rPr lang="en-US" err="1">
                <a:solidFill>
                  <a:schemeClr val="tx1"/>
                </a:solidFill>
                <a:latin typeface="Arial" panose="020B0604020202020204" pitchFamily="34" charset="0"/>
                <a:cs typeface="Arial" panose="020B0604020202020204" pitchFamily="34" charset="0"/>
                <a:sym typeface="Wingdings" pitchFamily="2" charset="2"/>
              </a:rPr>
              <a:t>wvl</a:t>
            </a:r>
            <a:endParaRPr lang="en-US">
              <a:solidFill>
                <a:schemeClr val="tx1"/>
              </a:solidFill>
              <a:latin typeface="Arial" panose="020B0604020202020204" pitchFamily="34" charset="0"/>
              <a:cs typeface="Arial" panose="020B0604020202020204" pitchFamily="34" charset="0"/>
              <a:sym typeface="Wingdings" pitchFamily="2" charset="2"/>
            </a:endParaRPr>
          </a:p>
          <a:p>
            <a:pPr algn="just"/>
            <a:endParaRPr lang="en-US" sz="1200">
              <a:solidFill>
                <a:schemeClr val="tx1"/>
              </a:solidFill>
              <a:latin typeface="Arial" panose="020B0604020202020204" pitchFamily="34" charset="0"/>
              <a:cs typeface="Arial" panose="020B0604020202020204" pitchFamily="34" charset="0"/>
            </a:endParaRPr>
          </a:p>
          <a:p>
            <a:pPr algn="just"/>
            <a:endParaRPr lang="en-US" sz="120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4648200" y="1418373"/>
            <a:ext cx="381000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áfico 9">
            <a:extLst>
              <a:ext uri="{FF2B5EF4-FFF2-40B4-BE49-F238E27FC236}">
                <a16:creationId xmlns:a16="http://schemas.microsoft.com/office/drawing/2014/main" id="{C582D9ED-A2CE-6C08-D473-4C1FC636E8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98DA9316-CFD5-58C0-735F-237403D53172}"/>
              </a:ext>
            </a:extLst>
          </p:cNvPr>
          <p:cNvSpPr txBox="1">
            <a:spLocks/>
          </p:cNvSpPr>
          <p:nvPr/>
        </p:nvSpPr>
        <p:spPr>
          <a:xfrm>
            <a:off x="685800" y="408883"/>
            <a:ext cx="10994410" cy="1025922"/>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#2 – MZI Design</a:t>
            </a:r>
          </a:p>
          <a:p>
            <a:pPr marL="12700">
              <a:spcBef>
                <a:spcPts val="100"/>
              </a:spcBef>
            </a:pPr>
            <a:r>
              <a:rPr lang="en-US" b="0" kern="0" spc="-5">
                <a:latin typeface="+mj-lt"/>
                <a:cs typeface="Lucida Sans"/>
              </a:rPr>
              <a:t>Design a MZI with FSR = 10 nm at 1550 nm</a:t>
            </a:r>
            <a:br>
              <a:rPr lang="en-US" b="0" kern="0" spc="-5">
                <a:latin typeface="+mj-lt"/>
                <a:cs typeface="Lucida Sans"/>
              </a:rPr>
            </a:br>
            <a:endParaRPr lang="en-US" b="0" kern="0">
              <a:latin typeface="+mj-lt"/>
              <a:cs typeface="Lucida Sans"/>
            </a:endParaRPr>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E2AEB1C-B0B7-B52A-D711-481078AC6C05}"/>
                  </a:ext>
                </a:extLst>
              </p:cNvPr>
              <p:cNvSpPr txBox="1"/>
              <p:nvPr/>
            </p:nvSpPr>
            <p:spPr>
              <a:xfrm>
                <a:off x="1130032" y="2494307"/>
                <a:ext cx="2771996" cy="789832"/>
              </a:xfrm>
              <a:prstGeom prst="rect">
                <a:avLst/>
              </a:prstGeom>
              <a:noFill/>
            </p:spPr>
            <p:txBody>
              <a:bodyPr wrap="square" lIns="0" tIns="0" rIns="0" bIns="0" rtlCol="0">
                <a:spAutoFit/>
              </a:bodyPr>
              <a:lstStyle/>
              <a:p>
                <a14:m>
                  <m:oMath xmlns:m="http://schemas.openxmlformats.org/officeDocument/2006/math">
                    <m:r>
                      <a:rPr lang="es-ES" i="1" smtClean="0">
                        <a:latin typeface="Cambria Math" panose="02040503050406030204" pitchFamily="18" charset="0"/>
                        <a:ea typeface="Cambria Math" panose="02040503050406030204" pitchFamily="18" charset="0"/>
                      </a:rPr>
                      <m:t>∆</m:t>
                    </m:r>
                    <m:r>
                      <a:rPr lang="es-ES" b="0" i="1" smtClean="0">
                        <a:latin typeface="Cambria Math" panose="02040503050406030204" pitchFamily="18" charset="0"/>
                        <a:ea typeface="Cambria Math" panose="02040503050406030204" pitchFamily="18" charset="0"/>
                      </a:rPr>
                      <m:t>𝐿</m:t>
                    </m:r>
                    <m:r>
                      <a:rPr lang="es-ES" b="0" i="1" smtClean="0">
                        <a:latin typeface="Cambria Math" panose="02040503050406030204" pitchFamily="18" charset="0"/>
                        <a:ea typeface="Cambria Math" panose="02040503050406030204" pitchFamily="18" charset="0"/>
                      </a:rPr>
                      <m:t>= </m:t>
                    </m:r>
                    <m:f>
                      <m:fPr>
                        <m:ctrlPr>
                          <a:rPr lang="es-ES" b="0" i="1" smtClean="0">
                            <a:latin typeface="Cambria Math" panose="02040503050406030204" pitchFamily="18" charset="0"/>
                            <a:ea typeface="Cambria Math" panose="02040503050406030204" pitchFamily="18" charset="0"/>
                          </a:rPr>
                        </m:ctrlPr>
                      </m:fPr>
                      <m:num>
                        <m:r>
                          <a:rPr lang="el-GR" i="1">
                            <a:latin typeface="Cambria Math" panose="02040503050406030204" pitchFamily="18" charset="0"/>
                            <a:ea typeface="Cambria Math" panose="02040503050406030204" pitchFamily="18" charset="0"/>
                          </a:rPr>
                          <m:t>𝜆</m:t>
                        </m:r>
                      </m:num>
                      <m:den>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𝑛</m:t>
                            </m:r>
                          </m:e>
                          <m:sub>
                            <m:r>
                              <a:rPr lang="es-ES" b="0" i="1" smtClean="0">
                                <a:latin typeface="Cambria Math" panose="02040503050406030204" pitchFamily="18" charset="0"/>
                                <a:ea typeface="Cambria Math" panose="02040503050406030204" pitchFamily="18" charset="0"/>
                              </a:rPr>
                              <m:t>𝑔</m:t>
                            </m:r>
                          </m:sub>
                        </m:sSub>
                        <m:r>
                          <a:rPr lang="es-ES" b="0" i="1" smtClean="0">
                            <a:latin typeface="Cambria Math" panose="02040503050406030204" pitchFamily="18" charset="0"/>
                            <a:ea typeface="Cambria Math" panose="02040503050406030204" pitchFamily="18" charset="0"/>
                          </a:rPr>
                          <m:t> ∗ </m:t>
                        </m:r>
                        <m:sSub>
                          <m:sSubPr>
                            <m:ctrlPr>
                              <a:rPr lang="es-ES" b="0" i="1" smtClean="0">
                                <a:latin typeface="Cambria Math" panose="02040503050406030204" pitchFamily="18" charset="0"/>
                                <a:ea typeface="Cambria Math" panose="02040503050406030204" pitchFamily="18" charset="0"/>
                              </a:rPr>
                            </m:ctrlPr>
                          </m:sSubPr>
                          <m:e>
                            <m:r>
                              <a:rPr lang="es-ES" b="0" i="1" smtClean="0">
                                <a:latin typeface="Cambria Math" panose="02040503050406030204" pitchFamily="18" charset="0"/>
                                <a:ea typeface="Cambria Math" panose="02040503050406030204" pitchFamily="18" charset="0"/>
                              </a:rPr>
                              <m:t>∆</m:t>
                            </m:r>
                          </m:e>
                          <m:sub>
                            <m:sSub>
                              <m:sSubPr>
                                <m:ctrlPr>
                                  <a:rPr lang="es-ES" b="0" i="1" smtClean="0">
                                    <a:latin typeface="Cambria Math" panose="02040503050406030204" pitchFamily="18" charset="0"/>
                                    <a:ea typeface="Cambria Math" panose="02040503050406030204" pitchFamily="18" charset="0"/>
                                  </a:rPr>
                                </m:ctrlPr>
                              </m:sSubPr>
                              <m:e>
                                <m:r>
                                  <a:rPr lang="el-GR" i="1">
                                    <a:latin typeface="Cambria Math" panose="02040503050406030204" pitchFamily="18" charset="0"/>
                                    <a:ea typeface="Cambria Math" panose="02040503050406030204" pitchFamily="18" charset="0"/>
                                  </a:rPr>
                                  <m:t>𝜆</m:t>
                                </m:r>
                              </m:e>
                              <m:sub>
                                <m:r>
                                  <a:rPr lang="es-ES" b="0" i="1" smtClean="0">
                                    <a:latin typeface="Cambria Math" panose="02040503050406030204" pitchFamily="18" charset="0"/>
                                    <a:ea typeface="Cambria Math" panose="02040503050406030204" pitchFamily="18" charset="0"/>
                                  </a:rPr>
                                  <m:t>𝐹𝑆𝑅</m:t>
                                </m:r>
                              </m:sub>
                            </m:sSub>
                          </m:sub>
                        </m:sSub>
                      </m:den>
                    </m:f>
                    <m:r>
                      <a:rPr lang="es-ES" b="0" i="1" smtClean="0">
                        <a:latin typeface="Cambria Math" panose="02040503050406030204" pitchFamily="18" charset="0"/>
                        <a:ea typeface="Cambria Math" panose="02040503050406030204" pitchFamily="18" charset="0"/>
                      </a:rPr>
                      <m:t>= </m:t>
                    </m:r>
                    <m:f>
                      <m:fPr>
                        <m:ctrlPr>
                          <a:rPr lang="es-ES" b="0" i="1" smtClean="0">
                            <a:latin typeface="Cambria Math" panose="02040503050406030204" pitchFamily="18" charset="0"/>
                            <a:ea typeface="Cambria Math" panose="02040503050406030204" pitchFamily="18" charset="0"/>
                          </a:rPr>
                        </m:ctrlPr>
                      </m:fPr>
                      <m:num>
                        <m:sSup>
                          <m:sSupPr>
                            <m:ctrlPr>
                              <a:rPr lang="es-ES" b="0" i="1" smtClean="0">
                                <a:latin typeface="Cambria Math" panose="02040503050406030204" pitchFamily="18" charset="0"/>
                                <a:ea typeface="Cambria Math" panose="02040503050406030204" pitchFamily="18" charset="0"/>
                              </a:rPr>
                            </m:ctrlPr>
                          </m:sSupPr>
                          <m:e>
                            <m:r>
                              <a:rPr lang="es-ES" b="0" i="1" smtClean="0">
                                <a:latin typeface="Cambria Math" panose="02040503050406030204" pitchFamily="18" charset="0"/>
                                <a:ea typeface="Cambria Math" panose="02040503050406030204" pitchFamily="18" charset="0"/>
                              </a:rPr>
                              <m:t>1550</m:t>
                            </m:r>
                          </m:e>
                          <m:sup>
                            <m:r>
                              <a:rPr lang="es-ES" b="0" i="1" smtClean="0">
                                <a:latin typeface="Cambria Math" panose="02040503050406030204" pitchFamily="18" charset="0"/>
                                <a:ea typeface="Cambria Math" panose="02040503050406030204" pitchFamily="18" charset="0"/>
                              </a:rPr>
                              <m:t>2</m:t>
                            </m:r>
                          </m:sup>
                        </m:sSup>
                      </m:num>
                      <m:den>
                        <m:r>
                          <a:rPr lang="es-ES" b="0" i="1" smtClean="0">
                            <a:latin typeface="Cambria Math" panose="02040503050406030204" pitchFamily="18" charset="0"/>
                            <a:ea typeface="Cambria Math" panose="02040503050406030204" pitchFamily="18" charset="0"/>
                          </a:rPr>
                          <m:t>2 ∗2</m:t>
                        </m:r>
                      </m:den>
                    </m:f>
                    <m:r>
                      <a:rPr lang="es-ES" b="0" i="1" smtClean="0">
                        <a:latin typeface="Cambria Math" panose="02040503050406030204" pitchFamily="18" charset="0"/>
                        <a:ea typeface="Cambria Math" panose="02040503050406030204" pitchFamily="18" charset="0"/>
                      </a:rPr>
                      <m:t>=600625 </m:t>
                    </m:r>
                    <m:r>
                      <a:rPr lang="es-ES" b="0" i="1" smtClean="0">
                        <a:latin typeface="Cambria Math" panose="02040503050406030204" pitchFamily="18" charset="0"/>
                        <a:ea typeface="Cambria Math" panose="02040503050406030204" pitchFamily="18" charset="0"/>
                      </a:rPr>
                      <m:t>𝑛𝑚</m:t>
                    </m:r>
                    <m:r>
                      <a:rPr lang="es-ES" b="0" i="1" smtClean="0">
                        <a:latin typeface="Cambria Math" panose="02040503050406030204" pitchFamily="18" charset="0"/>
                        <a:ea typeface="Cambria Math" panose="02040503050406030204" pitchFamily="18" charset="0"/>
                      </a:rPr>
                      <m:t>=600,625</m:t>
                    </m:r>
                  </m:oMath>
                </a14:m>
                <a:r>
                  <a:rPr lang="es-ES" i="1">
                    <a:ea typeface="Cambria Math" panose="02040503050406030204" pitchFamily="18" charset="0"/>
                  </a:rPr>
                  <a:t> µm</a:t>
                </a:r>
              </a:p>
            </p:txBody>
          </p:sp>
        </mc:Choice>
        <mc:Fallback xmlns="">
          <p:sp>
            <p:nvSpPr>
              <p:cNvPr id="9" name="CuadroTexto 8">
                <a:extLst>
                  <a:ext uri="{FF2B5EF4-FFF2-40B4-BE49-F238E27FC236}">
                    <a16:creationId xmlns:a16="http://schemas.microsoft.com/office/drawing/2014/main" id="{2E2AEB1C-B0B7-B52A-D711-481078AC6C05}"/>
                  </a:ext>
                </a:extLst>
              </p:cNvPr>
              <p:cNvSpPr txBox="1">
                <a:spLocks noRot="1" noChangeAspect="1" noMove="1" noResize="1" noEditPoints="1" noAdjustHandles="1" noChangeArrowheads="1" noChangeShapeType="1" noTextEdit="1"/>
              </p:cNvSpPr>
              <p:nvPr/>
            </p:nvSpPr>
            <p:spPr>
              <a:xfrm>
                <a:off x="1130032" y="2494307"/>
                <a:ext cx="2771996" cy="789832"/>
              </a:xfrm>
              <a:prstGeom prst="rect">
                <a:avLst/>
              </a:prstGeom>
              <a:blipFill>
                <a:blip r:embed="rId4"/>
                <a:stretch>
                  <a:fillRect l="-3077" b="-17692"/>
                </a:stretch>
              </a:blipFill>
            </p:spPr>
            <p:txBody>
              <a:bodyPr/>
              <a:lstStyle/>
              <a:p>
                <a:r>
                  <a:rPr lang="en-US">
                    <a:noFill/>
                  </a:rPr>
                  <a:t> </a:t>
                </a:r>
              </a:p>
            </p:txBody>
          </p:sp>
        </mc:Fallback>
      </mc:AlternateContent>
      <p:pic>
        <p:nvPicPr>
          <p:cNvPr id="4" name="Imagen 3">
            <a:extLst>
              <a:ext uri="{FF2B5EF4-FFF2-40B4-BE49-F238E27FC236}">
                <a16:creationId xmlns:a16="http://schemas.microsoft.com/office/drawing/2014/main" id="{1FC04FDB-879F-915A-1D12-F9F7D23C8BE9}"/>
              </a:ext>
            </a:extLst>
          </p:cNvPr>
          <p:cNvPicPr>
            <a:picLocks noChangeAspect="1"/>
          </p:cNvPicPr>
          <p:nvPr/>
        </p:nvPicPr>
        <p:blipFill>
          <a:blip r:embed="rId5"/>
          <a:stretch>
            <a:fillRect/>
          </a:stretch>
        </p:blipFill>
        <p:spPr>
          <a:xfrm>
            <a:off x="4729842" y="1623285"/>
            <a:ext cx="3646714" cy="2896203"/>
          </a:xfrm>
          <a:prstGeom prst="rect">
            <a:avLst/>
          </a:prstGeom>
        </p:spPr>
      </p:pic>
    </p:spTree>
    <p:extLst>
      <p:ext uri="{BB962C8B-B14F-4D97-AF65-F5344CB8AC3E}">
        <p14:creationId xmlns:p14="http://schemas.microsoft.com/office/powerpoint/2010/main" val="122265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D79F9CCB-631D-A124-3694-9DBF91E01CA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6</a:t>
            </a:fld>
            <a:endParaRPr lang="en-US"/>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#3 – Delay imbalance with loss</a:t>
            </a:r>
          </a:p>
          <a:p>
            <a:pPr marL="12700">
              <a:spcBef>
                <a:spcPts val="100"/>
              </a:spcBef>
            </a:pPr>
            <a:r>
              <a:rPr lang="en-US" b="0" kern="0" spc="-5">
                <a:latin typeface="+mj-lt"/>
                <a:cs typeface="Lucida Sans"/>
              </a:rPr>
              <a:t>Fringe visibility</a:t>
            </a:r>
            <a:endParaRPr lang="en-US" b="0" kern="0">
              <a:latin typeface="+mj-lt"/>
              <a:cs typeface="Lucida Sans"/>
            </a:endParaRPr>
          </a:p>
        </p:txBody>
      </p:sp>
      <mc:AlternateContent xmlns:mc="http://schemas.openxmlformats.org/markup-compatibility/2006">
        <mc:Choice xmlns:a14="http://schemas.microsoft.com/office/drawing/2010/main" Requires="a14">
          <p:sp>
            <p:nvSpPr>
              <p:cNvPr id="2" name="CuadroTexto 1">
                <a:extLst>
                  <a:ext uri="{FF2B5EF4-FFF2-40B4-BE49-F238E27FC236}">
                    <a16:creationId xmlns:a16="http://schemas.microsoft.com/office/drawing/2014/main" id="{F1C12A10-91CE-B5DA-9D77-267ED06AEAC2}"/>
                  </a:ext>
                </a:extLst>
              </p:cNvPr>
              <p:cNvSpPr txBox="1"/>
              <p:nvPr/>
            </p:nvSpPr>
            <p:spPr>
              <a:xfrm>
                <a:off x="609441" y="4860334"/>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describe the transfer function, is there any interference pattern in case 1? Is there any interference pattern in case 2? Explain the difference between both cases. Compare the Extinction Ratio of both variations. </a:t>
                </a:r>
              </a:p>
              <a:p>
                <a:pPr algn="just"/>
                <a:r>
                  <a:rPr lang="es-ES" sz="1200" dirty="0">
                    <a:latin typeface="Arial" panose="020B0604020202020204" pitchFamily="34" charset="0"/>
                    <a:cs typeface="Arial" panose="020B0604020202020204" pitchFamily="34" charset="0"/>
                  </a:rPr>
                  <a:t>La función de transferencia tiene una forma senoidal muy densa debido al gran desbalance de longitud entre las ramas (∆L ≈ </a:t>
                </a:r>
                <a:r>
                  <a:rPr lang="en-US" sz="1200" dirty="0">
                    <a:latin typeface="Arial" panose="020B0604020202020204" pitchFamily="34" charset="0"/>
                    <a:cs typeface="Arial" panose="020B0604020202020204" pitchFamily="34" charset="0"/>
                    <a:sym typeface="Wingdings" pitchFamily="2" charset="2"/>
                  </a:rPr>
                  <a:t>55960.08 um</a:t>
                </a:r>
                <a:r>
                  <a:rPr lang="es-ES" sz="1200" dirty="0">
                    <a:latin typeface="Arial" panose="020B0604020202020204" pitchFamily="34" charset="0"/>
                    <a:cs typeface="Arial" panose="020B0604020202020204" pitchFamily="34" charset="0"/>
                  </a:rPr>
                  <a:t>). La transmisión no oscila entre 0 y 1 en lineal ni llega a </a:t>
                </a:r>
                <a14:m>
                  <m:oMath xmlns:m="http://schemas.openxmlformats.org/officeDocument/2006/math">
                    <m:r>
                      <a:rPr lang="es-ES" sz="1200" i="1" smtClean="0">
                        <a:latin typeface="Cambria Math" panose="02040503050406030204" pitchFamily="18" charset="0"/>
                        <a:cs typeface="Arial" panose="020B0604020202020204" pitchFamily="34" charset="0"/>
                      </a:rPr>
                      <m:t>−∞</m:t>
                    </m:r>
                    <m:r>
                      <m:rPr>
                        <m:nor/>
                      </m:rPr>
                      <a:rPr lang="es-ES" sz="1200" i="0" smtClean="0">
                        <a:latin typeface="Arial" panose="020B0604020202020204" pitchFamily="34" charset="0"/>
                        <a:cs typeface="Arial" panose="020B0604020202020204" pitchFamily="34" charset="0"/>
                      </a:rPr>
                      <m:t> </m:t>
                    </m:r>
                    <m:r>
                      <m:rPr>
                        <m:nor/>
                      </m:rPr>
                      <a:rPr lang="es-ES" sz="1200" i="0" smtClean="0">
                        <a:latin typeface="Arial" panose="020B0604020202020204" pitchFamily="34" charset="0"/>
                        <a:cs typeface="Arial" panose="020B0604020202020204" pitchFamily="34" charset="0"/>
                      </a:rPr>
                      <m:t>dB</m:t>
                    </m:r>
                  </m:oMath>
                </a14:m>
                <a:r>
                  <a:rPr lang="es-ES" sz="1200" dirty="0">
                    <a:latin typeface="Arial" panose="020B0604020202020204" pitchFamily="34" charset="0"/>
                    <a:cs typeface="Arial" panose="020B0604020202020204" pitchFamily="34" charset="0"/>
                  </a:rPr>
                  <a:t> en escala logarítmica debido a la fuerte atenuación sufrida en la rama superior. </a:t>
                </a:r>
              </a:p>
              <a:p>
                <a:pPr algn="just"/>
                <a:r>
                  <a:rPr lang="es-ES" sz="1200" dirty="0">
                    <a:latin typeface="Arial" panose="020B0604020202020204" pitchFamily="34" charset="0"/>
                    <a:cs typeface="Arial" panose="020B0604020202020204" pitchFamily="34" charset="0"/>
                  </a:rPr>
                  <a:t>En este Caso 1 sí hay patrón de interferencia ya que, la rama superior introduce una pérdida por propagación extra de aproximadamente 22.4 dB (4dB/cm*5.596cm). Esto hace que los campos ópticos lleguen con amplitudes muy descompensadas al acoplador de salida, impidiendo una cancelación destructiva perfecta. </a:t>
                </a:r>
              </a:p>
              <a:p>
                <a:pPr algn="just"/>
                <a:r>
                  <a:rPr lang="es-ES" sz="1200" dirty="0">
                    <a:latin typeface="Arial" panose="020B0604020202020204" pitchFamily="34" charset="0"/>
                    <a:cs typeface="Arial" panose="020B0604020202020204" pitchFamily="34" charset="0"/>
                  </a:rPr>
                  <a:t>La señal oscila en lineal entre 0.195 y 0.265.</a:t>
                </a:r>
                <a:endParaRPr lang="en-US" sz="1200" dirty="0">
                  <a:latin typeface="Arial" panose="020B0604020202020204" pitchFamily="34" charset="0"/>
                  <a:cs typeface="Arial" panose="020B0604020202020204" pitchFamily="34" charset="0"/>
                </a:endParaRPr>
              </a:p>
            </p:txBody>
          </p:sp>
        </mc:Choice>
        <mc:Fallback>
          <p:sp>
            <p:nvSpPr>
              <p:cNvPr id="2" name="CuadroTexto 1">
                <a:extLst>
                  <a:ext uri="{FF2B5EF4-FFF2-40B4-BE49-F238E27FC236}">
                    <a16:creationId xmlns:a16="http://schemas.microsoft.com/office/drawing/2014/main" id="{F1C12A10-91CE-B5DA-9D77-267ED06AEAC2}"/>
                  </a:ext>
                </a:extLst>
              </p:cNvPr>
              <p:cNvSpPr txBox="1">
                <a:spLocks noRot="1" noChangeAspect="1" noMove="1" noResize="1" noEditPoints="1" noAdjustHandles="1" noChangeArrowheads="1" noChangeShapeType="1" noTextEdit="1"/>
              </p:cNvSpPr>
              <p:nvPr/>
            </p:nvSpPr>
            <p:spPr>
              <a:xfrm>
                <a:off x="609441" y="4860334"/>
                <a:ext cx="11199971" cy="1569660"/>
              </a:xfrm>
              <a:prstGeom prst="rect">
                <a:avLst/>
              </a:prstGeom>
              <a:blipFill>
                <a:blip r:embed="rId3"/>
                <a:stretch>
                  <a:fillRect b="-380"/>
                </a:stretch>
              </a:blipFill>
              <a:ln w="28575">
                <a:solidFill>
                  <a:srgbClr val="E0700D"/>
                </a:solidFill>
              </a:ln>
            </p:spPr>
            <p:txBody>
              <a:bodyPr/>
              <a:lstStyle/>
              <a:p>
                <a:r>
                  <a:rPr lang="es-ES">
                    <a:noFill/>
                  </a:rPr>
                  <a:t> </a:t>
                </a:r>
              </a:p>
            </p:txBody>
          </p:sp>
        </mc:Fallback>
      </mc:AlternateContent>
      <p:sp>
        <p:nvSpPr>
          <p:cNvPr id="4" name="Rectángulo 3">
            <a:extLst>
              <a:ext uri="{FF2B5EF4-FFF2-40B4-BE49-F238E27FC236}">
                <a16:creationId xmlns:a16="http://schemas.microsoft.com/office/drawing/2014/main" id="{FDBAE930-4EE5-671B-4DE7-6BC60C48E7C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A6CCE634-FF91-FD5F-7C1D-4329E9DA2469}"/>
              </a:ext>
            </a:extLst>
          </p:cNvPr>
          <p:cNvSpPr/>
          <p:nvPr/>
        </p:nvSpPr>
        <p:spPr>
          <a:xfrm>
            <a:off x="6476400" y="141837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dirty="0">
                <a:solidFill>
                  <a:schemeClr val="tx1"/>
                </a:solidFill>
                <a:latin typeface="Arial" panose="020B0604020202020204" pitchFamily="34" charset="0"/>
                <a:cs typeface="Arial" panose="020B0604020202020204" pitchFamily="34" charset="0"/>
              </a:rPr>
              <a:t>Hints:</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wvl</a:t>
            </a:r>
            <a:r>
              <a:rPr lang="en-US" sz="1600" dirty="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n_eff</a:t>
            </a:r>
            <a:r>
              <a:rPr lang="en-US" sz="1600" dirty="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n_g</a:t>
            </a:r>
            <a:r>
              <a:rPr lang="en-US" sz="1600" dirty="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dL = </a:t>
            </a:r>
            <a:r>
              <a:rPr lang="en-US" sz="1600" dirty="0" err="1">
                <a:solidFill>
                  <a:schemeClr val="tx1"/>
                </a:solidFill>
                <a:latin typeface="Arial" panose="020B0604020202020204" pitchFamily="34" charset="0"/>
                <a:cs typeface="Arial" panose="020B0604020202020204" pitchFamily="34" charset="0"/>
                <a:sym typeface="Wingdings" pitchFamily="2" charset="2"/>
              </a:rPr>
              <a:t>L_base</a:t>
            </a:r>
            <a:r>
              <a:rPr lang="en-US" sz="1600" dirty="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dirty="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dirty="0">
                <a:solidFill>
                  <a:schemeClr val="tx1"/>
                </a:solidFill>
                <a:latin typeface="Arial" panose="020B0604020202020204" pitchFamily="34" charset="0"/>
                <a:cs typeface="Arial" panose="020B0604020202020204" pitchFamily="34" charset="0"/>
                <a:sym typeface="Wingdings" pitchFamily="2" charset="2"/>
              </a:rPr>
              <a:t>Case 1</a:t>
            </a:r>
            <a:r>
              <a:rPr lang="en-US" sz="1600" dirty="0">
                <a:solidFill>
                  <a:schemeClr val="tx1"/>
                </a:solidFill>
                <a:latin typeface="Arial" panose="020B0604020202020204" pitchFamily="34" charset="0"/>
                <a:cs typeface="Arial" panose="020B0604020202020204" pitchFamily="34" charset="0"/>
                <a:sym typeface="Wingdings" pitchFamily="2" charset="2"/>
              </a:rPr>
              <a:t>. Simulate for Ka = </a:t>
            </a:r>
            <a:r>
              <a:rPr lang="en-US" sz="1600" dirty="0" err="1">
                <a:solidFill>
                  <a:schemeClr val="tx1"/>
                </a:solidFill>
                <a:latin typeface="Arial" panose="020B0604020202020204" pitchFamily="34" charset="0"/>
                <a:cs typeface="Arial" panose="020B0604020202020204" pitchFamily="34" charset="0"/>
                <a:sym typeface="Wingdings" pitchFamily="2" charset="2"/>
              </a:rPr>
              <a:t>Kb</a:t>
            </a:r>
            <a:r>
              <a:rPr lang="en-US" sz="1600" dirty="0">
                <a:solidFill>
                  <a:schemeClr val="tx1"/>
                </a:solidFill>
                <a:latin typeface="Arial" panose="020B0604020202020204" pitchFamily="34" charset="0"/>
                <a:cs typeface="Arial" panose="020B0604020202020204" pitchFamily="34" charset="0"/>
                <a:sym typeface="Wingdings" pitchFamily="2" charset="2"/>
              </a:rPr>
              <a:t> = 0.5 for all </a:t>
            </a:r>
            <a:r>
              <a:rPr lang="en-US" sz="1600" dirty="0" err="1">
                <a:solidFill>
                  <a:schemeClr val="tx1"/>
                </a:solidFill>
                <a:latin typeface="Arial" panose="020B0604020202020204" pitchFamily="34" charset="0"/>
                <a:cs typeface="Arial" panose="020B0604020202020204" pitchFamily="34" charset="0"/>
                <a:sym typeface="Wingdings" pitchFamily="2" charset="2"/>
              </a:rPr>
              <a:t>wvl</a:t>
            </a:r>
            <a:endParaRPr lang="en-US" sz="1600" dirty="0">
              <a:solidFill>
                <a:schemeClr val="tx1"/>
              </a:solidFill>
              <a:latin typeface="Arial" panose="020B0604020202020204" pitchFamily="34" charset="0"/>
              <a:cs typeface="Arial" panose="020B0604020202020204" pitchFamily="34" charset="0"/>
              <a:sym typeface="Wingdings" pitchFamily="2" charset="2"/>
            </a:endParaRPr>
          </a:p>
        </p:txBody>
      </p:sp>
      <p:sp>
        <p:nvSpPr>
          <p:cNvPr id="9" name="CuadroTexto 8">
            <a:extLst>
              <a:ext uri="{FF2B5EF4-FFF2-40B4-BE49-F238E27FC236}">
                <a16:creationId xmlns:a16="http://schemas.microsoft.com/office/drawing/2014/main" id="{EF71FD03-8141-88A1-69BA-49588EB48896}"/>
              </a:ext>
            </a:extLst>
          </p:cNvPr>
          <p:cNvSpPr txBox="1"/>
          <p:nvPr/>
        </p:nvSpPr>
        <p:spPr>
          <a:xfrm>
            <a:off x="1690195" y="249430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8" name="Imagen 7">
            <a:extLst>
              <a:ext uri="{FF2B5EF4-FFF2-40B4-BE49-F238E27FC236}">
                <a16:creationId xmlns:a16="http://schemas.microsoft.com/office/drawing/2014/main" id="{AB91CE60-4E4D-90A0-7250-B3CD4BF68C71}"/>
              </a:ext>
            </a:extLst>
          </p:cNvPr>
          <p:cNvPicPr>
            <a:picLocks noChangeAspect="1"/>
          </p:cNvPicPr>
          <p:nvPr/>
        </p:nvPicPr>
        <p:blipFill>
          <a:blip r:embed="rId4"/>
          <a:stretch>
            <a:fillRect/>
          </a:stretch>
        </p:blipFill>
        <p:spPr>
          <a:xfrm>
            <a:off x="1257045" y="1513380"/>
            <a:ext cx="4037360" cy="3116014"/>
          </a:xfrm>
          <a:prstGeom prst="rect">
            <a:avLst/>
          </a:prstGeom>
        </p:spPr>
      </p:pic>
    </p:spTree>
    <p:extLst>
      <p:ext uri="{BB962C8B-B14F-4D97-AF65-F5344CB8AC3E}">
        <p14:creationId xmlns:p14="http://schemas.microsoft.com/office/powerpoint/2010/main" val="147571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4419D-09FA-2023-FBA7-284720B7E228}"/>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3E84E698-2970-818B-0F8A-B8C99659D159}"/>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0E116B88-1280-24EB-8898-7B5AFB446904}"/>
              </a:ext>
            </a:extLst>
          </p:cNvPr>
          <p:cNvSpPr>
            <a:spLocks noGrp="1"/>
          </p:cNvSpPr>
          <p:nvPr>
            <p:ph type="sldNum" sz="quarter" idx="7"/>
          </p:nvPr>
        </p:nvSpPr>
        <p:spPr/>
        <p:txBody>
          <a:bodyPr/>
          <a:lstStyle/>
          <a:p>
            <a:fld id="{C2F52289-4012-4053-9770-FE82CEB9514F}" type="slidenum">
              <a:rPr lang="en-US" smtClean="0"/>
              <a:pPr/>
              <a:t>7</a:t>
            </a:fld>
            <a:endParaRPr lang="en-US"/>
          </a:p>
        </p:txBody>
      </p:sp>
      <p:pic>
        <p:nvPicPr>
          <p:cNvPr id="10" name="Gráfico 9">
            <a:extLst>
              <a:ext uri="{FF2B5EF4-FFF2-40B4-BE49-F238E27FC236}">
                <a16:creationId xmlns:a16="http://schemas.microsoft.com/office/drawing/2014/main" id="{BDD026B1-0B07-242D-F4A0-AF0B9291B5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7BD140C7-0295-EEDC-7C10-2CF647EC0402}"/>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#3 – Delay imbalance with loss</a:t>
            </a:r>
          </a:p>
          <a:p>
            <a:pPr marL="12700">
              <a:spcBef>
                <a:spcPts val="100"/>
              </a:spcBef>
            </a:pPr>
            <a:r>
              <a:rPr lang="en-US" b="0" kern="0" spc="-5">
                <a:latin typeface="+mj-lt"/>
                <a:cs typeface="Lucida Sans"/>
              </a:rPr>
              <a:t>Fringe visibility</a:t>
            </a:r>
            <a:endParaRPr lang="en-US" b="0" kern="0">
              <a:latin typeface="+mj-lt"/>
              <a:cs typeface="Lucida Sans"/>
            </a:endParaRPr>
          </a:p>
        </p:txBody>
      </p:sp>
      <p:sp>
        <p:nvSpPr>
          <p:cNvPr id="2" name="CuadroTexto 1">
            <a:extLst>
              <a:ext uri="{FF2B5EF4-FFF2-40B4-BE49-F238E27FC236}">
                <a16:creationId xmlns:a16="http://schemas.microsoft.com/office/drawing/2014/main" id="{83964F3C-09FB-3404-D5F0-3DB5818164C0}"/>
              </a:ext>
            </a:extLst>
          </p:cNvPr>
          <p:cNvSpPr txBox="1"/>
          <p:nvPr/>
        </p:nvSpPr>
        <p:spPr>
          <a:xfrm>
            <a:off x="609441" y="4612008"/>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describe the transfer function, is there any interference pattern in case 1? Is there any interference pattern in case 2? Explain the difference between both cases. Compare the Extinction Ratio of both variations. </a:t>
            </a:r>
          </a:p>
          <a:p>
            <a:pPr algn="just"/>
            <a:r>
              <a:rPr lang="es-ES" sz="1200" dirty="0">
                <a:latin typeface="Arial" panose="020B0604020202020204" pitchFamily="34" charset="0"/>
                <a:cs typeface="Arial" panose="020B0604020202020204" pitchFamily="34" charset="0"/>
              </a:rPr>
              <a:t>En este Caso 2 también hay patrón de interferencia, pero está muy degradado. Esto se debe, a que al inyectar solo el 10% de la potencia en la rama superior, la diferencia de amplitudes en la salida se acentúa críticamente, disminuyendo así la profundidad de las oscilaciones.</a:t>
            </a:r>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La diferencia principal entre el caso 1 y 2 es el desplazamiento vertical de las curvas ya que en el Caso 1 el 50% de la potencia entra a la rama superior y se atenúa casi por completo y la potencia media de salida es menor. Sin embargo, en el Caso 2 el 90% de la potencia viaja por la rama inferior sin pérdidas y esto desplaza toda la gráfica hacia arriba, ya que se pierde menos energía total en el dispositivo</a:t>
            </a:r>
            <a:endParaRPr lang="en-US" sz="1200" dirty="0">
              <a:latin typeface="Arial" panose="020B0604020202020204" pitchFamily="34" charset="0"/>
              <a:cs typeface="Arial" panose="020B0604020202020204" pitchFamily="34" charset="0"/>
            </a:endParaRPr>
          </a:p>
          <a:p>
            <a:pPr algn="just"/>
            <a:r>
              <a:rPr lang="es-ES" sz="1200" u="sng" dirty="0">
                <a:latin typeface="Arial" panose="020B0604020202020204" pitchFamily="34" charset="0"/>
                <a:cs typeface="Arial" panose="020B0604020202020204" pitchFamily="34" charset="0"/>
              </a:rPr>
              <a:t>Comparación del </a:t>
            </a:r>
            <a:r>
              <a:rPr lang="es-ES" sz="1200" u="sng" dirty="0" err="1">
                <a:latin typeface="Arial" panose="020B0604020202020204" pitchFamily="34" charset="0"/>
                <a:cs typeface="Arial" panose="020B0604020202020204" pitchFamily="34" charset="0"/>
              </a:rPr>
              <a:t>Extinction</a:t>
            </a:r>
            <a:r>
              <a:rPr lang="es-ES" sz="1200" u="sng" dirty="0">
                <a:latin typeface="Arial" panose="020B0604020202020204" pitchFamily="34" charset="0"/>
                <a:cs typeface="Arial" panose="020B0604020202020204" pitchFamily="34" charset="0"/>
              </a:rPr>
              <a:t> Ratio </a:t>
            </a:r>
            <a:r>
              <a:rPr lang="es-ES" sz="1200" dirty="0">
                <a:latin typeface="Arial" panose="020B0604020202020204" pitchFamily="34" charset="0"/>
                <a:cs typeface="Arial" panose="020B0604020202020204" pitchFamily="34" charset="0"/>
              </a:rPr>
              <a:t>(ER): el Caso 1 consigue un ER moderado de 2.7dB (oscila entre -11.5dB y -14.2dB), y el Caso 2 tiene un ER muy degradado de 0.9dB (oscila entre -7.3dB y -8.2dB). </a:t>
            </a:r>
          </a:p>
          <a:p>
            <a:pPr algn="just"/>
            <a:r>
              <a:rPr lang="es-ES" sz="1200" dirty="0">
                <a:latin typeface="Arial" panose="020B0604020202020204" pitchFamily="34" charset="0"/>
                <a:cs typeface="Arial" panose="020B0604020202020204" pitchFamily="34" charset="0"/>
              </a:rPr>
              <a:t>El Caso 1 ofrece mejor ER porque la división equitativa inicial (50/50) ayuda a mitigar parte del desbalance de amplitud final en comparación con la división asimétrica del Caso 2.</a:t>
            </a:r>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2B04521D-4A24-3A5D-6200-6CE1BFEA9678}"/>
              </a:ext>
            </a:extLst>
          </p:cNvPr>
          <p:cNvSpPr/>
          <p:nvPr/>
        </p:nvSpPr>
        <p:spPr>
          <a:xfrm>
            <a:off x="609441" y="1212037"/>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9CE8FF73-5491-C2F0-1174-726C480562F0}"/>
              </a:ext>
            </a:extLst>
          </p:cNvPr>
          <p:cNvSpPr/>
          <p:nvPr/>
        </p:nvSpPr>
        <p:spPr>
          <a:xfrm>
            <a:off x="6476400" y="1212037"/>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a:solidFill>
                  <a:schemeClr val="tx1"/>
                </a:solidFill>
                <a:latin typeface="Arial" panose="020B0604020202020204" pitchFamily="34" charset="0"/>
                <a:cs typeface="Arial" panose="020B0604020202020204" pitchFamily="34" charset="0"/>
              </a:rPr>
              <a:t>Hints:</a:t>
            </a: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wvl</a:t>
            </a:r>
            <a:r>
              <a:rPr lang="en-US" sz="160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n_eff</a:t>
            </a:r>
            <a:r>
              <a:rPr lang="en-US" sz="160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n_g</a:t>
            </a:r>
            <a:r>
              <a:rPr lang="en-US" sz="160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L_base</a:t>
            </a:r>
            <a:r>
              <a:rPr lang="en-US" sz="160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a:solidFill>
                  <a:schemeClr val="tx1"/>
                </a:solidFill>
                <a:latin typeface="Arial" panose="020B0604020202020204" pitchFamily="34" charset="0"/>
                <a:cs typeface="Arial" panose="020B0604020202020204" pitchFamily="34" charset="0"/>
                <a:sym typeface="Wingdings" pitchFamily="2" charset="2"/>
              </a:rPr>
              <a:t>dL = </a:t>
            </a:r>
            <a:r>
              <a:rPr lang="en-US" sz="1600" err="1">
                <a:solidFill>
                  <a:schemeClr val="tx1"/>
                </a:solidFill>
                <a:latin typeface="Arial" panose="020B0604020202020204" pitchFamily="34" charset="0"/>
                <a:cs typeface="Arial" panose="020B0604020202020204" pitchFamily="34" charset="0"/>
                <a:sym typeface="Wingdings" pitchFamily="2" charset="2"/>
              </a:rPr>
              <a:t>L_base</a:t>
            </a:r>
            <a:r>
              <a:rPr lang="en-US" sz="160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a:solidFill>
                  <a:schemeClr val="tx1"/>
                </a:solidFill>
                <a:latin typeface="Arial" panose="020B0604020202020204" pitchFamily="34" charset="0"/>
                <a:cs typeface="Arial" panose="020B0604020202020204" pitchFamily="34" charset="0"/>
                <a:sym typeface="Wingdings" pitchFamily="2" charset="2"/>
              </a:rPr>
              <a:t>Case 2</a:t>
            </a:r>
            <a:r>
              <a:rPr lang="en-US" sz="1600">
                <a:solidFill>
                  <a:schemeClr val="tx1"/>
                </a:solidFill>
                <a:latin typeface="Arial" panose="020B0604020202020204" pitchFamily="34" charset="0"/>
                <a:cs typeface="Arial" panose="020B0604020202020204" pitchFamily="34" charset="0"/>
                <a:sym typeface="Wingdings" pitchFamily="2" charset="2"/>
              </a:rPr>
              <a:t>. Simulate for Ka=0.1 for all </a:t>
            </a:r>
            <a:r>
              <a:rPr lang="en-US" sz="1600" err="1">
                <a:solidFill>
                  <a:schemeClr val="tx1"/>
                </a:solidFill>
                <a:latin typeface="Arial" panose="020B0604020202020204" pitchFamily="34" charset="0"/>
                <a:cs typeface="Arial" panose="020B0604020202020204" pitchFamily="34" charset="0"/>
                <a:sym typeface="Wingdings" pitchFamily="2" charset="2"/>
              </a:rPr>
              <a:t>wvl</a:t>
            </a:r>
            <a:endParaRPr lang="en-US" sz="1600">
              <a:solidFill>
                <a:schemeClr val="tx1"/>
              </a:solidFill>
              <a:latin typeface="Arial" panose="020B0604020202020204" pitchFamily="34" charset="0"/>
              <a:cs typeface="Arial" panose="020B0604020202020204" pitchFamily="34" charset="0"/>
              <a:sym typeface="Wingdings" pitchFamily="2" charset="2"/>
            </a:endParaRP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Kb</a:t>
            </a:r>
            <a:r>
              <a:rPr lang="en-US" sz="1600">
                <a:solidFill>
                  <a:schemeClr val="tx1"/>
                </a:solidFill>
                <a:latin typeface="Arial" panose="020B0604020202020204" pitchFamily="34" charset="0"/>
                <a:cs typeface="Arial" panose="020B0604020202020204" pitchFamily="34" charset="0"/>
                <a:sym typeface="Wingdings" pitchFamily="2" charset="2"/>
              </a:rPr>
              <a:t>=0.5 for all </a:t>
            </a:r>
            <a:r>
              <a:rPr lang="en-US" sz="1600" err="1">
                <a:solidFill>
                  <a:schemeClr val="tx1"/>
                </a:solidFill>
                <a:latin typeface="Arial" panose="020B0604020202020204" pitchFamily="34" charset="0"/>
                <a:cs typeface="Arial" panose="020B0604020202020204" pitchFamily="34" charset="0"/>
                <a:sym typeface="Wingdings" pitchFamily="2" charset="2"/>
              </a:rPr>
              <a:t>wvl</a:t>
            </a:r>
            <a:endParaRPr lang="en-US" sz="1600">
              <a:solidFill>
                <a:schemeClr val="tx1"/>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15E45084-E7AC-4A91-35FB-7995915A352C}"/>
              </a:ext>
            </a:extLst>
          </p:cNvPr>
          <p:cNvSpPr txBox="1"/>
          <p:nvPr/>
        </p:nvSpPr>
        <p:spPr>
          <a:xfrm>
            <a:off x="1690195" y="2287970"/>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11" name="Imagen 10">
            <a:extLst>
              <a:ext uri="{FF2B5EF4-FFF2-40B4-BE49-F238E27FC236}">
                <a16:creationId xmlns:a16="http://schemas.microsoft.com/office/drawing/2014/main" id="{81610BCF-3C43-38B2-99DB-52B4A8F82CEA}"/>
              </a:ext>
            </a:extLst>
          </p:cNvPr>
          <p:cNvPicPr>
            <a:picLocks noChangeAspect="1"/>
          </p:cNvPicPr>
          <p:nvPr/>
        </p:nvPicPr>
        <p:blipFill>
          <a:blip r:embed="rId3"/>
          <a:stretch>
            <a:fillRect/>
          </a:stretch>
        </p:blipFill>
        <p:spPr>
          <a:xfrm>
            <a:off x="1221752" y="1261300"/>
            <a:ext cx="4107946" cy="3207501"/>
          </a:xfrm>
          <a:prstGeom prst="rect">
            <a:avLst/>
          </a:prstGeom>
        </p:spPr>
      </p:pic>
    </p:spTree>
    <p:extLst>
      <p:ext uri="{BB962C8B-B14F-4D97-AF65-F5344CB8AC3E}">
        <p14:creationId xmlns:p14="http://schemas.microsoft.com/office/powerpoint/2010/main" val="1434364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F3429-FD53-A9F2-0A63-D30B12472117}"/>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13E8A821-3EEC-2C02-F597-EE5DBCA44E69}"/>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B2A5772B-8F9F-CDD2-753E-73CBAC826B5C}"/>
              </a:ext>
            </a:extLst>
          </p:cNvPr>
          <p:cNvSpPr>
            <a:spLocks noGrp="1"/>
          </p:cNvSpPr>
          <p:nvPr>
            <p:ph type="sldNum" sz="quarter" idx="7"/>
          </p:nvPr>
        </p:nvSpPr>
        <p:spPr/>
        <p:txBody>
          <a:bodyPr/>
          <a:lstStyle/>
          <a:p>
            <a:fld id="{C2F52289-4012-4053-9770-FE82CEB9514F}" type="slidenum">
              <a:rPr lang="en-US" smtClean="0"/>
              <a:pPr/>
              <a:t>8</a:t>
            </a:fld>
            <a:endParaRPr lang="en-US"/>
          </a:p>
        </p:txBody>
      </p:sp>
      <p:pic>
        <p:nvPicPr>
          <p:cNvPr id="10" name="Gráfico 9">
            <a:extLst>
              <a:ext uri="{FF2B5EF4-FFF2-40B4-BE49-F238E27FC236}">
                <a16:creationId xmlns:a16="http://schemas.microsoft.com/office/drawing/2014/main" id="{0607119D-C443-1B1D-AFDF-2CB4948E17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3D7EEE5C-1B13-B392-D26B-EC392177D470}"/>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#3 – Delay imbalance with loss</a:t>
            </a:r>
          </a:p>
          <a:p>
            <a:pPr marL="12700">
              <a:spcBef>
                <a:spcPts val="100"/>
              </a:spcBef>
            </a:pPr>
            <a:r>
              <a:rPr lang="en-US" b="0" kern="0" spc="-5">
                <a:latin typeface="+mj-lt"/>
                <a:cs typeface="Lucida Sans"/>
              </a:rPr>
              <a:t>Fringe visibility</a:t>
            </a:r>
            <a:endParaRPr lang="en-US" b="0" kern="0">
              <a:latin typeface="+mj-lt"/>
              <a:cs typeface="Lucida Sans"/>
            </a:endParaRPr>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C3AF3B33-BBE6-C85B-AFA5-09B827030DFC}"/>
                  </a:ext>
                </a:extLst>
              </p:cNvPr>
              <p:cNvSpPr txBox="1"/>
              <p:nvPr/>
            </p:nvSpPr>
            <p:spPr>
              <a:xfrm>
                <a:off x="609000" y="4649986"/>
                <a:ext cx="11199971" cy="16921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a:latin typeface="Arial" panose="020B0604020202020204" pitchFamily="34" charset="0"/>
                    <a:cs typeface="Arial" panose="020B0604020202020204" pitchFamily="34" charset="0"/>
                  </a:rPr>
                  <a:t>Comment results</a:t>
                </a:r>
                <a:r>
                  <a:rPr lang="en-US" sz="1200">
                    <a:latin typeface="Arial" panose="020B0604020202020204" pitchFamily="34" charset="0"/>
                    <a:cs typeface="Arial" panose="020B0604020202020204" pitchFamily="34" charset="0"/>
                  </a:rPr>
                  <a:t>:</a:t>
                </a:r>
              </a:p>
              <a:p>
                <a:r>
                  <a:rPr lang="es-ES" sz="1200">
                    <a:latin typeface="Arial" panose="020B0604020202020204" pitchFamily="34" charset="0"/>
                    <a:cs typeface="Arial" panose="020B0604020202020204" pitchFamily="34" charset="0"/>
                  </a:rPr>
                  <a:t>Para obtener un ER perfecto (ER </a:t>
                </a:r>
                <a14:m>
                  <m:oMath xmlns:m="http://schemas.openxmlformats.org/officeDocument/2006/math">
                    <m:r>
                      <a:rPr lang="es-ES" sz="1200">
                        <a:latin typeface="Cambria Math" panose="02040503050406030204" pitchFamily="18" charset="0"/>
                        <a:ea typeface="Cambria Math" panose="02040503050406030204" pitchFamily="18" charset="0"/>
                        <a:cs typeface="Arial" panose="020B0604020202020204" pitchFamily="34" charset="0"/>
                      </a:rPr>
                      <m:t>→</m:t>
                    </m:r>
                  </m:oMath>
                </a14:m>
                <a:r>
                  <a:rPr lang="es-ES" sz="1200">
                    <a:latin typeface="Arial" panose="020B0604020202020204" pitchFamily="34" charset="0"/>
                    <a:cs typeface="Arial" panose="020B0604020202020204" pitchFamily="34" charset="0"/>
                    <a:sym typeface="Wingdings" panose="05000000000000000000" pitchFamily="2" charset="2"/>
                  </a:rPr>
                  <a:t> </a:t>
                </a:r>
                <a14:m>
                  <m:oMath xmlns:m="http://schemas.openxmlformats.org/officeDocument/2006/math">
                    <m:r>
                      <a:rPr lang="es-ES" sz="1200" i="1">
                        <a:latin typeface="Cambria Math" panose="02040503050406030204" pitchFamily="18" charset="0"/>
                        <a:cs typeface="Arial" panose="020B0604020202020204" pitchFamily="34" charset="0"/>
                      </a:rPr>
                      <m:t>∞</m:t>
                    </m:r>
                  </m:oMath>
                </a14:m>
                <a:r>
                  <a:rPr lang="es-ES" sz="1200">
                    <a:latin typeface="Arial" panose="020B0604020202020204" pitchFamily="34" charset="0"/>
                    <a:cs typeface="Arial" panose="020B0604020202020204" pitchFamily="34" charset="0"/>
                  </a:rPr>
                  <a:t> dB), las amplitudes de los campos ópticos deben ser idénticas antes del segundo acoplador (Kb = 0.5) y así lograr una cancelación destructiva total: </a:t>
                </a:r>
                <a14:m>
                  <m:oMath xmlns:m="http://schemas.openxmlformats.org/officeDocument/2006/math">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𝑎</m:t>
                        </m:r>
                      </m:e>
                      <m:sup>
                        <m:r>
                          <a:rPr lang="es-ES" sz="1200" b="0" i="1" smtClean="0">
                            <a:latin typeface="Cambria Math" panose="02040503050406030204" pitchFamily="18" charset="0"/>
                            <a:cs typeface="Arial" panose="020B0604020202020204" pitchFamily="34" charset="0"/>
                          </a:rPr>
                          <m:t>2</m:t>
                        </m:r>
                      </m:sup>
                    </m:sSup>
                    <m:r>
                      <a:rPr lang="es-ES" sz="1200" b="0" i="1" smtClean="0">
                        <a:latin typeface="Cambria Math" panose="02040503050406030204" pitchFamily="18" charset="0"/>
                        <a:cs typeface="Arial" panose="020B0604020202020204" pitchFamily="34" charset="0"/>
                      </a:rPr>
                      <m:t>=</m:t>
                    </m:r>
                    <m:sSup>
                      <m:sSupPr>
                        <m:ctrlPr>
                          <a:rPr lang="es-ES" sz="1200" b="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10</m:t>
                        </m:r>
                      </m:e>
                      <m:sup>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22.4</m:t>
                            </m:r>
                            <m:r>
                              <a:rPr lang="es-ES" sz="1200" b="0" i="1" smtClean="0">
                                <a:latin typeface="Cambria Math" panose="02040503050406030204" pitchFamily="18" charset="0"/>
                                <a:cs typeface="Arial" panose="020B0604020202020204" pitchFamily="34" charset="0"/>
                              </a:rPr>
                              <m:t>𝑑𝐵</m:t>
                            </m:r>
                          </m:num>
                          <m:den>
                            <m:r>
                              <a:rPr lang="es-ES" sz="1200" b="0" i="1" smtClean="0">
                                <a:latin typeface="Cambria Math" panose="02040503050406030204" pitchFamily="18" charset="0"/>
                                <a:cs typeface="Arial" panose="020B0604020202020204" pitchFamily="34" charset="0"/>
                              </a:rPr>
                              <m:t>10</m:t>
                            </m:r>
                          </m:den>
                        </m:f>
                      </m:sup>
                    </m:sSup>
                    <m:r>
                      <a:rPr lang="es-ES" sz="1200" b="0" i="1" smtClean="0">
                        <a:latin typeface="Cambria Math" panose="02040503050406030204" pitchFamily="18" charset="0"/>
                        <a:ea typeface="Cambria Math" panose="02040503050406030204" pitchFamily="18" charset="0"/>
                        <a:cs typeface="Arial" panose="020B0604020202020204" pitchFamily="34" charset="0"/>
                      </a:rPr>
                      <m:t>≈0.00578</m:t>
                    </m:r>
                    <m:r>
                      <a:rPr lang="es-ES" sz="1200" b="0" i="0" smtClean="0">
                        <a:latin typeface="Cambria Math" panose="02040503050406030204" pitchFamily="18" charset="0"/>
                        <a:ea typeface="Cambria Math" panose="02040503050406030204" pitchFamily="18" charset="0"/>
                        <a:cs typeface="Arial" panose="020B0604020202020204" pitchFamily="34" charset="0"/>
                      </a:rPr>
                      <m:t>      →         </m:t>
                    </m:r>
                    <m:r>
                      <a:rPr lang="es-ES" sz="1200" b="0" i="1" smtClean="0">
                        <a:latin typeface="Cambria Math" panose="02040503050406030204" pitchFamily="18" charset="0"/>
                        <a:cs typeface="Arial" panose="020B0604020202020204" pitchFamily="34" charset="0"/>
                      </a:rPr>
                      <m:t>𝑘𝑎</m:t>
                    </m:r>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1</m:t>
                        </m:r>
                      </m:num>
                      <m:den>
                        <m:r>
                          <a:rPr lang="es-ES" sz="1200" b="0" i="1" smtClean="0">
                            <a:latin typeface="Cambria Math" panose="02040503050406030204" pitchFamily="18" charset="0"/>
                            <a:cs typeface="Arial" panose="020B0604020202020204" pitchFamily="34" charset="0"/>
                          </a:rPr>
                          <m:t>1+</m:t>
                        </m:r>
                        <m:r>
                          <a:rPr lang="es-ES" sz="1200" b="0" i="1" smtClean="0">
                            <a:latin typeface="Cambria Math" panose="02040503050406030204" pitchFamily="18" charset="0"/>
                            <a:cs typeface="Arial" panose="020B0604020202020204" pitchFamily="34" charset="0"/>
                          </a:rPr>
                          <m:t>𝑎</m:t>
                        </m:r>
                      </m:den>
                    </m:f>
                    <m:r>
                      <a:rPr lang="es-ES" sz="1200" i="1">
                        <a:latin typeface="Cambria Math" panose="02040503050406030204" pitchFamily="18" charset="0"/>
                        <a:ea typeface="Cambria Math" panose="02040503050406030204" pitchFamily="18" charset="0"/>
                        <a:cs typeface="Arial" panose="020B0604020202020204" pitchFamily="34" charset="0"/>
                      </a:rPr>
                      <m:t>≈</m:t>
                    </m:r>
                    <m:r>
                      <a:rPr lang="es-ES" sz="1200" b="0" i="1" smtClean="0">
                        <a:latin typeface="Cambria Math" panose="02040503050406030204" pitchFamily="18" charset="0"/>
                        <a:ea typeface="Cambria Math" panose="02040503050406030204" pitchFamily="18" charset="0"/>
                        <a:cs typeface="Arial" panose="020B0604020202020204" pitchFamily="34" charset="0"/>
                      </a:rPr>
                      <m:t>0.994</m:t>
                    </m:r>
                  </m:oMath>
                </a14:m>
                <a:endParaRPr lang="en-US" sz="1200">
                  <a:latin typeface="Arial" panose="020B0604020202020204" pitchFamily="34" charset="0"/>
                  <a:cs typeface="Arial" panose="020B0604020202020204" pitchFamily="34" charset="0"/>
                </a:endParaRPr>
              </a:p>
              <a:p>
                <a:r>
                  <a:rPr lang="es-ES" sz="1200">
                    <a:latin typeface="Arial" panose="020B0604020202020204" pitchFamily="34" charset="0"/>
                    <a:cs typeface="Arial" panose="020B0604020202020204" pitchFamily="34" charset="0"/>
                  </a:rPr>
                  <a:t>El brazo largo sufre una atenuación de 22.4dB por su longitud. Configurar Ka = 0.994 envía el 99.4% de la luz al brazo largo y solo el 0.6% al corto. Esto iguala perfectamente las amplitudes de ambos caminos al llegar al acoplador de salida (Kb).</a:t>
                </a:r>
              </a:p>
              <a:p>
                <a:r>
                  <a:rPr lang="es-ES" sz="1200">
                    <a:latin typeface="Arial" panose="020B0604020202020204" pitchFamily="34" charset="0"/>
                    <a:cs typeface="Arial" panose="020B0604020202020204" pitchFamily="34" charset="0"/>
                  </a:rPr>
                  <a:t>En la gráfica se puede observar que el punto máximo (0.011 en lineal (-39dB)) donde se ve que ha caído la potencia total porque hemos reducido la luz del brazo corto para equilibrar el sistema y en el mínimo (0 en lineal (-118dB), se logra una cancelación destructiva perfecta </a:t>
                </a:r>
              </a:p>
              <a:p>
                <a:r>
                  <a:rPr lang="es-ES" sz="1200">
                    <a:latin typeface="Arial" panose="020B0604020202020204" pitchFamily="34" charset="0"/>
                    <a:cs typeface="Arial" panose="020B0604020202020204" pitchFamily="34" charset="0"/>
                    <a:sym typeface="Wingdings" panose="05000000000000000000" pitchFamily="2" charset="2"/>
                  </a:rPr>
                  <a:t>ER = máximo – mínimo = -39dB - (-118dB) = 79dB.</a:t>
                </a:r>
              </a:p>
            </p:txBody>
          </p:sp>
        </mc:Choice>
        <mc:Fallback xmlns="">
          <p:sp>
            <p:nvSpPr>
              <p:cNvPr id="2" name="CuadroTexto 1">
                <a:extLst>
                  <a:ext uri="{FF2B5EF4-FFF2-40B4-BE49-F238E27FC236}">
                    <a16:creationId xmlns:a16="http://schemas.microsoft.com/office/drawing/2014/main" id="{C3AF3B33-BBE6-C85B-AFA5-09B827030DFC}"/>
                  </a:ext>
                </a:extLst>
              </p:cNvPr>
              <p:cNvSpPr txBox="1">
                <a:spLocks noRot="1" noChangeAspect="1" noMove="1" noResize="1" noEditPoints="1" noAdjustHandles="1" noChangeArrowheads="1" noChangeShapeType="1" noTextEdit="1"/>
              </p:cNvSpPr>
              <p:nvPr/>
            </p:nvSpPr>
            <p:spPr>
              <a:xfrm>
                <a:off x="609000" y="4649986"/>
                <a:ext cx="11199971" cy="1692195"/>
              </a:xfrm>
              <a:prstGeom prst="rect">
                <a:avLst/>
              </a:prstGeom>
              <a:blipFill>
                <a:blip r:embed="rId3"/>
                <a:stretch>
                  <a:fillRect b="-709"/>
                </a:stretch>
              </a:blipFill>
              <a:ln w="28575">
                <a:solidFill>
                  <a:srgbClr val="E0700D"/>
                </a:solidFill>
              </a:ln>
            </p:spPr>
            <p:txBody>
              <a:bodyPr/>
              <a:lstStyle/>
              <a:p>
                <a:r>
                  <a:rPr lang="en-US">
                    <a:noFill/>
                  </a:rPr>
                  <a:t> </a:t>
                </a:r>
              </a:p>
            </p:txBody>
          </p:sp>
        </mc:Fallback>
      </mc:AlternateContent>
      <p:sp>
        <p:nvSpPr>
          <p:cNvPr id="4" name="Rectángulo 3">
            <a:extLst>
              <a:ext uri="{FF2B5EF4-FFF2-40B4-BE49-F238E27FC236}">
                <a16:creationId xmlns:a16="http://schemas.microsoft.com/office/drawing/2014/main" id="{D87F4CCD-0D5A-6AE0-F159-F74BA22C7F17}"/>
              </a:ext>
            </a:extLst>
          </p:cNvPr>
          <p:cNvSpPr/>
          <p:nvPr/>
        </p:nvSpPr>
        <p:spPr>
          <a:xfrm>
            <a:off x="609000" y="123549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ángulo 6">
            <a:extLst>
              <a:ext uri="{FF2B5EF4-FFF2-40B4-BE49-F238E27FC236}">
                <a16:creationId xmlns:a16="http://schemas.microsoft.com/office/drawing/2014/main" id="{767C3478-5EC1-DEFA-A14C-4E08EC81D127}"/>
              </a:ext>
            </a:extLst>
          </p:cNvPr>
          <p:cNvSpPr/>
          <p:nvPr/>
        </p:nvSpPr>
        <p:spPr>
          <a:xfrm>
            <a:off x="6475959" y="1235493"/>
            <a:ext cx="5332571" cy="3306028"/>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600" b="1">
                <a:solidFill>
                  <a:schemeClr val="tx1"/>
                </a:solidFill>
                <a:latin typeface="Arial" panose="020B0604020202020204" pitchFamily="34" charset="0"/>
                <a:cs typeface="Arial" panose="020B0604020202020204" pitchFamily="34" charset="0"/>
              </a:rPr>
              <a:t>Hints:</a:t>
            </a: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wvl</a:t>
            </a:r>
            <a:r>
              <a:rPr lang="en-US" sz="1600">
                <a:solidFill>
                  <a:schemeClr val="tx1"/>
                </a:solidFill>
                <a:latin typeface="Arial" panose="020B0604020202020204" pitchFamily="34" charset="0"/>
                <a:cs typeface="Arial" panose="020B0604020202020204" pitchFamily="34" charset="0"/>
                <a:sym typeface="Wingdings" pitchFamily="2" charset="2"/>
              </a:rPr>
              <a:t> [1550-1550.5] step 0.0000005</a:t>
            </a:r>
          </a:p>
          <a:p>
            <a:pPr algn="just"/>
            <a:r>
              <a:rPr lang="en-US" sz="1600">
                <a:solidFill>
                  <a:schemeClr val="tx1"/>
                </a:solidFill>
                <a:latin typeface="Arial" panose="020B0604020202020204" pitchFamily="34" charset="0"/>
                <a:cs typeface="Arial" panose="020B0604020202020204" pitchFamily="34" charset="0"/>
                <a:sym typeface="Wingdings" pitchFamily="2" charset="2"/>
              </a:rPr>
              <a:t>Silicon waveguide model:</a:t>
            </a: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n_eff</a:t>
            </a:r>
            <a:r>
              <a:rPr lang="en-US" sz="1600">
                <a:solidFill>
                  <a:schemeClr val="tx1"/>
                </a:solidFill>
                <a:latin typeface="Arial" panose="020B0604020202020204" pitchFamily="34" charset="0"/>
                <a:cs typeface="Arial" panose="020B0604020202020204" pitchFamily="34" charset="0"/>
                <a:sym typeface="Wingdings" pitchFamily="2" charset="2"/>
              </a:rPr>
              <a:t> = 2.38, </a:t>
            </a: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n_g</a:t>
            </a:r>
            <a:r>
              <a:rPr lang="en-US" sz="1600">
                <a:solidFill>
                  <a:schemeClr val="tx1"/>
                </a:solidFill>
                <a:latin typeface="Arial" panose="020B0604020202020204" pitchFamily="34" charset="0"/>
                <a:cs typeface="Arial" panose="020B0604020202020204" pitchFamily="34" charset="0"/>
                <a:sym typeface="Wingdings" pitchFamily="2" charset="2"/>
              </a:rPr>
              <a:t> = 4.25, </a:t>
            </a:r>
          </a:p>
          <a:p>
            <a:pPr algn="just"/>
            <a:r>
              <a:rPr lang="en-US" sz="1600">
                <a:solidFill>
                  <a:schemeClr val="tx1"/>
                </a:solidFill>
                <a:latin typeface="Arial" panose="020B0604020202020204" pitchFamily="34" charset="0"/>
                <a:cs typeface="Arial" panose="020B0604020202020204" pitchFamily="34" charset="0"/>
                <a:sym typeface="Wingdings" pitchFamily="2" charset="2"/>
              </a:rPr>
              <a:t>D=0,</a:t>
            </a:r>
          </a:p>
          <a:p>
            <a:pPr algn="just"/>
            <a:r>
              <a:rPr lang="en-US" sz="1600" err="1">
                <a:solidFill>
                  <a:schemeClr val="tx1"/>
                </a:solidFill>
                <a:latin typeface="Arial" panose="020B0604020202020204" pitchFamily="34" charset="0"/>
                <a:cs typeface="Arial" panose="020B0604020202020204" pitchFamily="34" charset="0"/>
                <a:sym typeface="Wingdings" pitchFamily="2" charset="2"/>
              </a:rPr>
              <a:t>L_base</a:t>
            </a:r>
            <a:r>
              <a:rPr lang="en-US" sz="1600">
                <a:solidFill>
                  <a:schemeClr val="tx1"/>
                </a:solidFill>
                <a:latin typeface="Arial" panose="020B0604020202020204" pitchFamily="34" charset="0"/>
                <a:cs typeface="Arial" panose="020B0604020202020204" pitchFamily="34" charset="0"/>
                <a:sym typeface="Wingdings" pitchFamily="2" charset="2"/>
              </a:rPr>
              <a:t>=1000</a:t>
            </a:r>
          </a:p>
          <a:p>
            <a:pPr algn="just"/>
            <a:r>
              <a:rPr lang="en-US" sz="1600">
                <a:solidFill>
                  <a:schemeClr val="tx1"/>
                </a:solidFill>
                <a:latin typeface="Arial" panose="020B0604020202020204" pitchFamily="34" charset="0"/>
                <a:cs typeface="Arial" panose="020B0604020202020204" pitchFamily="34" charset="0"/>
                <a:sym typeface="Wingdings" pitchFamily="2" charset="2"/>
              </a:rPr>
              <a:t>dL = </a:t>
            </a:r>
            <a:r>
              <a:rPr lang="en-US" sz="1600" err="1">
                <a:solidFill>
                  <a:schemeClr val="tx1"/>
                </a:solidFill>
                <a:latin typeface="Arial" panose="020B0604020202020204" pitchFamily="34" charset="0"/>
                <a:cs typeface="Arial" panose="020B0604020202020204" pitchFamily="34" charset="0"/>
                <a:sym typeface="Wingdings" pitchFamily="2" charset="2"/>
              </a:rPr>
              <a:t>L_base</a:t>
            </a:r>
            <a:r>
              <a:rPr lang="en-US" sz="1600">
                <a:solidFill>
                  <a:schemeClr val="tx1"/>
                </a:solidFill>
                <a:latin typeface="Arial" panose="020B0604020202020204" pitchFamily="34" charset="0"/>
                <a:cs typeface="Arial" panose="020B0604020202020204" pitchFamily="34" charset="0"/>
                <a:sym typeface="Wingdings" pitchFamily="2" charset="2"/>
              </a:rPr>
              <a:t> + 55960.0840224255;</a:t>
            </a:r>
          </a:p>
          <a:p>
            <a:pPr algn="just"/>
            <a:r>
              <a:rPr lang="en-US" sz="1600">
                <a:solidFill>
                  <a:schemeClr val="tx1"/>
                </a:solidFill>
                <a:latin typeface="Arial" panose="020B0604020202020204" pitchFamily="34" charset="0"/>
                <a:cs typeface="Arial" panose="020B0604020202020204" pitchFamily="34" charset="0"/>
                <a:sym typeface="Wingdings" pitchFamily="2" charset="2"/>
              </a:rPr>
              <a:t>loss = 4 dB / cm</a:t>
            </a:r>
          </a:p>
          <a:p>
            <a:pPr algn="just"/>
            <a:r>
              <a:rPr lang="en-US" sz="1600" b="1">
                <a:solidFill>
                  <a:schemeClr val="tx1"/>
                </a:solidFill>
                <a:latin typeface="Arial" panose="020B0604020202020204" pitchFamily="34" charset="0"/>
                <a:cs typeface="Arial" panose="020B0604020202020204" pitchFamily="34" charset="0"/>
              </a:rPr>
              <a:t>Extra</a:t>
            </a:r>
            <a:r>
              <a:rPr lang="en-US" sz="1600">
                <a:solidFill>
                  <a:schemeClr val="tx1"/>
                </a:solidFill>
                <a:latin typeface="Arial" panose="020B0604020202020204" pitchFamily="34" charset="0"/>
                <a:cs typeface="Arial" panose="020B0604020202020204" pitchFamily="34" charset="0"/>
              </a:rPr>
              <a:t>: What coupling coefficient will you select for the input coupler if you want to match the losses of the longer arm? Simulate and extract the ER.</a:t>
            </a:r>
          </a:p>
          <a:p>
            <a:pPr algn="just"/>
            <a:endParaRPr lang="en-US" sz="1600">
              <a:solidFill>
                <a:schemeClr val="tx1"/>
              </a:solidFill>
              <a:latin typeface="Arial" panose="020B0604020202020204" pitchFamily="34" charset="0"/>
              <a:cs typeface="Arial" panose="020B0604020202020204" pitchFamily="34" charset="0"/>
              <a:sym typeface="Wingdings" pitchFamily="2" charset="2"/>
            </a:endParaRPr>
          </a:p>
        </p:txBody>
      </p:sp>
      <p:sp>
        <p:nvSpPr>
          <p:cNvPr id="9" name="CuadroTexto 8">
            <a:extLst>
              <a:ext uri="{FF2B5EF4-FFF2-40B4-BE49-F238E27FC236}">
                <a16:creationId xmlns:a16="http://schemas.microsoft.com/office/drawing/2014/main" id="{127339B3-34CC-6826-60E0-AAE011395E1B}"/>
              </a:ext>
            </a:extLst>
          </p:cNvPr>
          <p:cNvSpPr txBox="1"/>
          <p:nvPr/>
        </p:nvSpPr>
        <p:spPr>
          <a:xfrm>
            <a:off x="1689754" y="2311426"/>
            <a:ext cx="3171061" cy="1154162"/>
          </a:xfrm>
          <a:prstGeom prst="rect">
            <a:avLst/>
          </a:prstGeom>
          <a:noFill/>
        </p:spPr>
        <p:txBody>
          <a:bodyPr wrap="none" rtlCol="0">
            <a:spAutoFit/>
          </a:bodyPr>
          <a:lstStyle/>
          <a:p>
            <a:pPr algn="ctr"/>
            <a:r>
              <a:rPr lang="es-ES"/>
              <a:t>MZI transfer </a:t>
            </a:r>
            <a:r>
              <a:rPr lang="es-ES" err="1"/>
              <a:t>functions</a:t>
            </a:r>
            <a:endParaRPr lang="en-US"/>
          </a:p>
          <a:p>
            <a:pPr algn="ctr"/>
            <a:endParaRPr lang="en-US"/>
          </a:p>
          <a:p>
            <a:pPr algn="ctr"/>
            <a:r>
              <a:rPr lang="en-US"/>
              <a:t>Paste plot here</a:t>
            </a:r>
          </a:p>
        </p:txBody>
      </p:sp>
      <p:pic>
        <p:nvPicPr>
          <p:cNvPr id="8" name="Imagen 7">
            <a:extLst>
              <a:ext uri="{FF2B5EF4-FFF2-40B4-BE49-F238E27FC236}">
                <a16:creationId xmlns:a16="http://schemas.microsoft.com/office/drawing/2014/main" id="{96EB27B2-CD1C-D4A0-5C50-99A4783E40ED}"/>
              </a:ext>
            </a:extLst>
          </p:cNvPr>
          <p:cNvPicPr>
            <a:picLocks noChangeAspect="1"/>
          </p:cNvPicPr>
          <p:nvPr/>
        </p:nvPicPr>
        <p:blipFill>
          <a:blip r:embed="rId4"/>
          <a:stretch>
            <a:fillRect/>
          </a:stretch>
        </p:blipFill>
        <p:spPr>
          <a:xfrm>
            <a:off x="1192072" y="1274487"/>
            <a:ext cx="4166424" cy="3228040"/>
          </a:xfrm>
          <a:prstGeom prst="rect">
            <a:avLst/>
          </a:prstGeom>
        </p:spPr>
      </p:pic>
    </p:spTree>
    <p:extLst>
      <p:ext uri="{BB962C8B-B14F-4D97-AF65-F5344CB8AC3E}">
        <p14:creationId xmlns:p14="http://schemas.microsoft.com/office/powerpoint/2010/main" val="4012954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9</a:t>
            </a:fld>
            <a:endParaRPr lang="en-U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D9601617-351E-AE1A-1F4D-693F2EA59361}"/>
                  </a:ext>
                </a:extLst>
              </p:cNvPr>
              <p:cNvSpPr txBox="1"/>
              <p:nvPr/>
            </p:nvSpPr>
            <p:spPr>
              <a:xfrm>
                <a:off x="583240" y="4568803"/>
                <a:ext cx="11199530" cy="1740541"/>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a:latin typeface="Arial" panose="020B0604020202020204" pitchFamily="34" charset="0"/>
                    <a:cs typeface="Arial" panose="020B0604020202020204" pitchFamily="34" charset="0"/>
                  </a:rPr>
                  <a:t>Comment results: describer the transfer functions. which is the FSR? How is it related to the ring perimeter? </a:t>
                </a:r>
              </a:p>
              <a:p>
                <a:pPr algn="just"/>
                <a:r>
                  <a:rPr lang="es-ES" sz="1200">
                    <a:latin typeface="Arial" panose="020B0604020202020204" pitchFamily="34" charset="0"/>
                    <a:cs typeface="Arial" panose="020B0604020202020204" pitchFamily="34" charset="0"/>
                  </a:rPr>
                  <a:t>La función de transferencia muestra un espectro de transmisión plano (cercano a 1.0 en lineal y a 0dB en logarítmico) que es interrumpido periódicamente por caídas abruptas de potencia (valles o </a:t>
                </a:r>
                <a:r>
                  <a:rPr lang="es-ES" sz="1200" err="1">
                    <a:latin typeface="Arial" panose="020B0604020202020204" pitchFamily="34" charset="0"/>
                    <a:cs typeface="Arial" panose="020B0604020202020204" pitchFamily="34" charset="0"/>
                  </a:rPr>
                  <a:t>dips</a:t>
                </a:r>
                <a:r>
                  <a:rPr lang="es-ES" sz="1200">
                    <a:latin typeface="Arial" panose="020B0604020202020204" pitchFamily="34" charset="0"/>
                    <a:cs typeface="Arial" panose="020B0604020202020204" pitchFamily="34" charset="0"/>
                  </a:rPr>
                  <a:t>). Estos valles ocurren en las longitudes de onda de resonancia (aproximadamente en 1522.5, 1546.5, 1570.5 y 1594.5 nm), donde la luz queda atrapada dentro del anillo e interfiere de forma destructiva con la salida.</a:t>
                </a:r>
                <a:endParaRPr lang="en-US" sz="1200">
                  <a:latin typeface="Arial" panose="020B0604020202020204" pitchFamily="34" charset="0"/>
                  <a:cs typeface="Arial" panose="020B0604020202020204" pitchFamily="34" charset="0"/>
                </a:endParaRPr>
              </a:p>
              <a:p>
                <a:pPr algn="just"/>
                <a:r>
                  <a:rPr lang="es-ES" sz="1200">
                    <a:latin typeface="Arial" panose="020B0604020202020204" pitchFamily="34" charset="0"/>
                    <a:cs typeface="Arial" panose="020B0604020202020204" pitchFamily="34" charset="0"/>
                  </a:rPr>
                  <a:t>Midiendo la distancia entre dos de los valles consecutivos de la gráfica, el FSR es de aproximadamente 24 nm (1570.5nm - 1546.5nm = 24nm). </a:t>
                </a:r>
              </a:p>
              <a:p>
                <a:pPr algn="just"/>
                <a:r>
                  <a:rPr lang="es-ES" sz="1200">
                    <a:latin typeface="Arial" panose="020B0604020202020204" pitchFamily="34" charset="0"/>
                    <a:cs typeface="Arial" panose="020B0604020202020204" pitchFamily="34" charset="0"/>
                  </a:rPr>
                  <a:t>El FSR es inversamente proporcional al perímetro del anillo (∆L). Si el perímetro del anillo aumentase, los valles se juntarían más (el FSR disminuiría).</a:t>
                </a:r>
                <a:endParaRPr lang="en-US" sz="1200">
                  <a:latin typeface="Arial" panose="020B0604020202020204" pitchFamily="34" charset="0"/>
                  <a:cs typeface="Arial" panose="020B0604020202020204" pitchFamily="34" charset="0"/>
                </a:endParaRPr>
              </a:p>
              <a:p>
                <a:pPr algn="just"/>
                <a:r>
                  <a:rPr lang="en-US" sz="1200" b="1">
                    <a:latin typeface="Arial" panose="020B0604020202020204" pitchFamily="34" charset="0"/>
                    <a:cs typeface="Arial" panose="020B0604020202020204" pitchFamily="34" charset="0"/>
                  </a:rPr>
                  <a:t>Show a numeric calculation of the FSR and length difference matching the results in the graph</a:t>
                </a:r>
              </a:p>
              <a:p>
                <a:pPr algn="just"/>
                <a14:m>
                  <m:oMath xmlns:m="http://schemas.openxmlformats.org/officeDocument/2006/math">
                    <m:r>
                      <a:rPr lang="es-ES" sz="1200" i="1">
                        <a:latin typeface="Cambria Math" panose="02040503050406030204" pitchFamily="18" charset="0"/>
                        <a:ea typeface="Cambria Math" panose="02040503050406030204" pitchFamily="18" charset="0"/>
                      </a:rPr>
                      <m:t>∆</m:t>
                    </m:r>
                    <m:sSub>
                      <m:sSubPr>
                        <m:ctrlPr>
                          <a:rPr lang="es-ES" sz="1200" i="1">
                            <a:latin typeface="Cambria Math" panose="02040503050406030204" pitchFamily="18" charset="0"/>
                            <a:ea typeface="Cambria Math" panose="02040503050406030204" pitchFamily="18" charset="0"/>
                          </a:rPr>
                        </m:ctrlPr>
                      </m:sSubPr>
                      <m:e>
                        <m:r>
                          <a:rPr lang="el-GR" sz="1200" i="1">
                            <a:latin typeface="Cambria Math" panose="02040503050406030204" pitchFamily="18" charset="0"/>
                            <a:ea typeface="Cambria Math" panose="02040503050406030204" pitchFamily="18" charset="0"/>
                          </a:rPr>
                          <m:t>𝜆</m:t>
                        </m:r>
                      </m:e>
                      <m:sub>
                        <m:r>
                          <a:rPr lang="es-ES" sz="1200" i="1">
                            <a:latin typeface="Cambria Math" panose="02040503050406030204" pitchFamily="18" charset="0"/>
                            <a:ea typeface="Cambria Math" panose="02040503050406030204" pitchFamily="18" charset="0"/>
                          </a:rPr>
                          <m:t>𝐹𝑆𝑅</m:t>
                        </m:r>
                      </m:sub>
                    </m:sSub>
                    <m:r>
                      <a:rPr lang="es-ES" sz="1200" i="1">
                        <a:latin typeface="Cambria Math" panose="02040503050406030204" pitchFamily="18" charset="0"/>
                        <a:ea typeface="Cambria Math" panose="02040503050406030204" pitchFamily="18" charset="0"/>
                      </a:rPr>
                      <m:t>= </m:t>
                    </m:r>
                    <m:f>
                      <m:fPr>
                        <m:ctrlPr>
                          <a:rPr lang="es-ES" sz="1200" i="1">
                            <a:latin typeface="Cambria Math" panose="02040503050406030204" pitchFamily="18" charset="0"/>
                            <a:ea typeface="Cambria Math" panose="02040503050406030204" pitchFamily="18" charset="0"/>
                          </a:rPr>
                        </m:ctrlPr>
                      </m:fPr>
                      <m:num>
                        <m:sSup>
                          <m:sSupPr>
                            <m:ctrlPr>
                              <a:rPr lang="es-ES" sz="1200" b="0" i="1" smtClean="0">
                                <a:latin typeface="Cambria Math" panose="02040503050406030204" pitchFamily="18" charset="0"/>
                                <a:ea typeface="Cambria Math" panose="02040503050406030204" pitchFamily="18" charset="0"/>
                              </a:rPr>
                            </m:ctrlPr>
                          </m:sSupPr>
                          <m:e>
                            <m:r>
                              <a:rPr lang="el-GR" sz="1200" i="1">
                                <a:latin typeface="Cambria Math" panose="02040503050406030204" pitchFamily="18" charset="0"/>
                                <a:ea typeface="Cambria Math" panose="02040503050406030204" pitchFamily="18" charset="0"/>
                              </a:rPr>
                              <m:t>𝜆</m:t>
                            </m:r>
                          </m:e>
                          <m:sup>
                            <m:r>
                              <a:rPr lang="es-ES" sz="1200" b="0" i="1" smtClean="0">
                                <a:latin typeface="Cambria Math" panose="02040503050406030204" pitchFamily="18" charset="0"/>
                                <a:ea typeface="Cambria Math" panose="02040503050406030204" pitchFamily="18" charset="0"/>
                              </a:rPr>
                              <m:t>2</m:t>
                            </m:r>
                          </m:sup>
                        </m:sSup>
                      </m:num>
                      <m:den>
                        <m:sSub>
                          <m:sSubPr>
                            <m:ctrlPr>
                              <a:rPr lang="es-ES" sz="1200" i="1">
                                <a:latin typeface="Cambria Math" panose="02040503050406030204" pitchFamily="18" charset="0"/>
                                <a:ea typeface="Cambria Math" panose="02040503050406030204" pitchFamily="18" charset="0"/>
                              </a:rPr>
                            </m:ctrlPr>
                          </m:sSubPr>
                          <m:e>
                            <m:r>
                              <a:rPr lang="es-ES" sz="1200" i="1">
                                <a:latin typeface="Cambria Math" panose="02040503050406030204" pitchFamily="18" charset="0"/>
                                <a:ea typeface="Cambria Math" panose="02040503050406030204" pitchFamily="18" charset="0"/>
                              </a:rPr>
                              <m:t>𝑛</m:t>
                            </m:r>
                          </m:e>
                          <m:sub>
                            <m:r>
                              <a:rPr lang="es-ES" sz="1200" i="1">
                                <a:latin typeface="Cambria Math" panose="02040503050406030204" pitchFamily="18" charset="0"/>
                                <a:ea typeface="Cambria Math" panose="02040503050406030204" pitchFamily="18" charset="0"/>
                              </a:rPr>
                              <m:t>𝑔</m:t>
                            </m:r>
                          </m:sub>
                        </m:sSub>
                        <m:r>
                          <a:rPr lang="es-ES" sz="1200" i="1">
                            <a:latin typeface="Cambria Math" panose="02040503050406030204" pitchFamily="18" charset="0"/>
                            <a:ea typeface="Cambria Math" panose="02040503050406030204" pitchFamily="18" charset="0"/>
                          </a:rPr>
                          <m:t> ∗∆</m:t>
                        </m:r>
                        <m:r>
                          <a:rPr lang="es-ES" sz="1200" i="1">
                            <a:latin typeface="Cambria Math" panose="02040503050406030204" pitchFamily="18" charset="0"/>
                            <a:ea typeface="Cambria Math" panose="02040503050406030204" pitchFamily="18" charset="0"/>
                          </a:rPr>
                          <m:t>𝐿</m:t>
                        </m:r>
                      </m:den>
                    </m:f>
                    <m:r>
                      <a:rPr lang="es-ES" sz="1200" i="1">
                        <a:latin typeface="Cambria Math" panose="02040503050406030204" pitchFamily="18" charset="0"/>
                        <a:ea typeface="Cambria Math" panose="02040503050406030204" pitchFamily="18" charset="0"/>
                      </a:rPr>
                      <m:t>=</m:t>
                    </m:r>
                  </m:oMath>
                </a14:m>
                <a:r>
                  <a:rPr lang="es-ES" sz="1200">
                    <a:ea typeface="Cambria Math" panose="02040503050406030204" pitchFamily="18" charset="0"/>
                  </a:rPr>
                  <a:t> </a:t>
                </a:r>
                <a14:m>
                  <m:oMath xmlns:m="http://schemas.openxmlformats.org/officeDocument/2006/math">
                    <m:f>
                      <m:fPr>
                        <m:ctrlPr>
                          <a:rPr lang="es-ES" sz="1200" i="1">
                            <a:latin typeface="Cambria Math" panose="02040503050406030204" pitchFamily="18" charset="0"/>
                            <a:ea typeface="Cambria Math" panose="02040503050406030204" pitchFamily="18" charset="0"/>
                          </a:rPr>
                        </m:ctrlPr>
                      </m:fPr>
                      <m:num>
                        <m:sSup>
                          <m:sSupPr>
                            <m:ctrlPr>
                              <a:rPr lang="es-ES" sz="1200" i="1">
                                <a:latin typeface="Cambria Math" panose="02040503050406030204" pitchFamily="18" charset="0"/>
                                <a:ea typeface="Cambria Math" panose="02040503050406030204" pitchFamily="18" charset="0"/>
                              </a:rPr>
                            </m:ctrlPr>
                          </m:sSupPr>
                          <m:e>
                            <m:r>
                              <a:rPr lang="es-ES" sz="1200" b="0" i="1" smtClean="0">
                                <a:latin typeface="Cambria Math" panose="02040503050406030204" pitchFamily="18" charset="0"/>
                                <a:ea typeface="Cambria Math" panose="02040503050406030204" pitchFamily="18" charset="0"/>
                              </a:rPr>
                              <m:t>(1550</m:t>
                            </m:r>
                            <m:r>
                              <a:rPr lang="es-ES" sz="1200" b="0" i="1" smtClean="0">
                                <a:latin typeface="Cambria Math" panose="02040503050406030204" pitchFamily="18" charset="0"/>
                                <a:ea typeface="Cambria Math" panose="02040503050406030204" pitchFamily="18" charset="0"/>
                              </a:rPr>
                              <m:t>𝑛𝑚</m:t>
                            </m:r>
                            <m:r>
                              <a:rPr lang="es-ES" sz="1200" b="0" i="1" smtClean="0">
                                <a:latin typeface="Cambria Math" panose="02040503050406030204" pitchFamily="18" charset="0"/>
                                <a:ea typeface="Cambria Math" panose="02040503050406030204" pitchFamily="18" charset="0"/>
                              </a:rPr>
                              <m:t>)</m:t>
                            </m:r>
                          </m:e>
                          <m:sup>
                            <m:r>
                              <a:rPr lang="es-ES" sz="1200" i="1">
                                <a:latin typeface="Cambria Math" panose="02040503050406030204" pitchFamily="18" charset="0"/>
                                <a:ea typeface="Cambria Math" panose="02040503050406030204" pitchFamily="18" charset="0"/>
                              </a:rPr>
                              <m:t>2</m:t>
                            </m:r>
                          </m:sup>
                        </m:sSup>
                      </m:num>
                      <m:den>
                        <m:r>
                          <a:rPr lang="es-ES" sz="1200" b="0" i="1" smtClean="0">
                            <a:latin typeface="Cambria Math" panose="02040503050406030204" pitchFamily="18" charset="0"/>
                            <a:ea typeface="Cambria Math" panose="02040503050406030204" pitchFamily="18" charset="0"/>
                          </a:rPr>
                          <m:t>2</m:t>
                        </m:r>
                        <m:r>
                          <a:rPr lang="es-ES" sz="1200" i="1">
                            <a:latin typeface="Cambria Math" panose="02040503050406030204" pitchFamily="18" charset="0"/>
                            <a:ea typeface="Cambria Math" panose="02040503050406030204" pitchFamily="18" charset="0"/>
                          </a:rPr>
                          <m:t> ∗</m:t>
                        </m:r>
                        <m:r>
                          <a:rPr lang="es-ES" sz="1200" b="0" i="1" smtClean="0">
                            <a:latin typeface="Cambria Math" panose="02040503050406030204" pitchFamily="18" charset="0"/>
                            <a:ea typeface="Cambria Math" panose="02040503050406030204" pitchFamily="18" charset="0"/>
                          </a:rPr>
                          <m:t>50</m:t>
                        </m:r>
                        <m:r>
                          <a:rPr lang="es-ES" sz="1200" b="0" i="1" smtClean="0">
                            <a:latin typeface="Cambria Math" panose="02040503050406030204" pitchFamily="18" charset="0"/>
                            <a:ea typeface="Cambria Math" panose="02040503050406030204" pitchFamily="18" charset="0"/>
                          </a:rPr>
                          <m:t>𝑢𝑚</m:t>
                        </m:r>
                      </m:den>
                    </m:f>
                  </m:oMath>
                </a14:m>
                <a:r>
                  <a:rPr lang="es-ES" sz="1200">
                    <a:ea typeface="Cambria Math" panose="02040503050406030204" pitchFamily="18" charset="0"/>
                  </a:rPr>
                  <a:t> </a:t>
                </a:r>
                <a14:m>
                  <m:oMath xmlns:m="http://schemas.openxmlformats.org/officeDocument/2006/math">
                    <m:r>
                      <a:rPr lang="es-ES" sz="1200" i="1">
                        <a:latin typeface="Cambria Math" panose="02040503050406030204" pitchFamily="18" charset="0"/>
                        <a:ea typeface="Cambria Math" panose="02040503050406030204" pitchFamily="18" charset="0"/>
                      </a:rPr>
                      <m:t>=</m:t>
                    </m:r>
                    <m:r>
                      <a:rPr lang="es-ES" sz="1200" b="0" i="1" smtClean="0">
                        <a:latin typeface="Cambria Math" panose="02040503050406030204" pitchFamily="18" charset="0"/>
                        <a:ea typeface="Cambria Math" panose="02040503050406030204" pitchFamily="18" charset="0"/>
                      </a:rPr>
                      <m:t>24.025 </m:t>
                    </m:r>
                    <m:r>
                      <a:rPr lang="es-ES" sz="1200" b="0" i="1" smtClean="0">
                        <a:latin typeface="Cambria Math" panose="02040503050406030204" pitchFamily="18" charset="0"/>
                        <a:ea typeface="Cambria Math" panose="02040503050406030204" pitchFamily="18" charset="0"/>
                      </a:rPr>
                      <m:t>𝑛𝑚</m:t>
                    </m:r>
                  </m:oMath>
                </a14:m>
                <a:r>
                  <a:rPr lang="en-US" sz="1200">
                    <a:latin typeface="Arial" panose="020B0604020202020204" pitchFamily="34" charset="0"/>
                    <a:cs typeface="Arial" panose="020B0604020202020204" pitchFamily="34" charset="0"/>
                  </a:rPr>
                  <a:t> </a:t>
                </a:r>
                <a14:m>
                  <m:oMath xmlns:m="http://schemas.openxmlformats.org/officeDocument/2006/math">
                    <m:r>
                      <a:rPr lang="es-ES" sz="1200">
                        <a:latin typeface="Cambria Math" panose="02040503050406030204" pitchFamily="18" charset="0"/>
                        <a:ea typeface="Cambria Math" panose="02040503050406030204" pitchFamily="18" charset="0"/>
                        <a:cs typeface="Arial" panose="020B0604020202020204" pitchFamily="34" charset="0"/>
                      </a:rPr>
                      <m:t>→</m:t>
                    </m:r>
                  </m:oMath>
                </a14:m>
                <a:r>
                  <a:rPr lang="en-US" sz="1200">
                    <a:latin typeface="Arial" panose="020B0604020202020204" pitchFamily="34" charset="0"/>
                    <a:cs typeface="Arial" panose="020B0604020202020204" pitchFamily="34" charset="0"/>
                    <a:sym typeface="Wingdings" panose="05000000000000000000" pitchFamily="2" charset="2"/>
                  </a:rPr>
                  <a:t> Coincide con lo de la </a:t>
                </a:r>
                <a:r>
                  <a:rPr lang="en-US" sz="1200" err="1">
                    <a:latin typeface="Arial" panose="020B0604020202020204" pitchFamily="34" charset="0"/>
                    <a:cs typeface="Arial" panose="020B0604020202020204" pitchFamily="34" charset="0"/>
                    <a:sym typeface="Wingdings" panose="05000000000000000000" pitchFamily="2" charset="2"/>
                  </a:rPr>
                  <a:t>gráfica</a:t>
                </a:r>
                <a:endParaRPr lang="en-US" sz="1200">
                  <a:latin typeface="Arial" panose="020B0604020202020204" pitchFamily="34" charset="0"/>
                  <a:cs typeface="Arial" panose="020B0604020202020204" pitchFamily="34" charset="0"/>
                </a:endParaRPr>
              </a:p>
            </p:txBody>
          </p:sp>
        </mc:Choice>
        <mc:Fallback xmlns="">
          <p:sp>
            <p:nvSpPr>
              <p:cNvPr id="8" name="CuadroTexto 7">
                <a:extLst>
                  <a:ext uri="{FF2B5EF4-FFF2-40B4-BE49-F238E27FC236}">
                    <a16:creationId xmlns:a16="http://schemas.microsoft.com/office/drawing/2014/main" id="{D9601617-351E-AE1A-1F4D-693F2EA59361}"/>
                  </a:ext>
                </a:extLst>
              </p:cNvPr>
              <p:cNvSpPr txBox="1">
                <a:spLocks noRot="1" noChangeAspect="1" noMove="1" noResize="1" noEditPoints="1" noAdjustHandles="1" noChangeArrowheads="1" noChangeShapeType="1" noTextEdit="1"/>
              </p:cNvSpPr>
              <p:nvPr/>
            </p:nvSpPr>
            <p:spPr>
              <a:xfrm>
                <a:off x="583240" y="4568803"/>
                <a:ext cx="11199530" cy="1740541"/>
              </a:xfrm>
              <a:prstGeom prst="rect">
                <a:avLst/>
              </a:prstGeom>
              <a:blipFill>
                <a:blip r:embed="rId2"/>
                <a:stretch>
                  <a:fillRect/>
                </a:stretch>
              </a:blipFill>
              <a:ln w="28575">
                <a:solidFill>
                  <a:srgbClr val="E0700D"/>
                </a:solidFill>
              </a:ln>
            </p:spPr>
            <p:txBody>
              <a:bodyPr/>
              <a:lstStyle/>
              <a:p>
                <a:r>
                  <a:rPr lang="en-US">
                    <a:noFill/>
                  </a:rPr>
                  <a:t> </a:t>
                </a:r>
              </a:p>
            </p:txBody>
          </p:sp>
        </mc:Fallback>
      </mc:AlternateContent>
      <p:sp>
        <p:nvSpPr>
          <p:cNvPr id="11" name="Rectángulo 10">
            <a:extLst>
              <a:ext uri="{FF2B5EF4-FFF2-40B4-BE49-F238E27FC236}">
                <a16:creationId xmlns:a16="http://schemas.microsoft.com/office/drawing/2014/main" id="{B811A5F9-C0B5-716C-70FB-9472E1BC2CD3}"/>
              </a:ext>
            </a:extLst>
          </p:cNvPr>
          <p:cNvSpPr/>
          <p:nvPr/>
        </p:nvSpPr>
        <p:spPr>
          <a:xfrm>
            <a:off x="609600" y="1436179"/>
            <a:ext cx="5300901" cy="2383226"/>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1D17C364-5A66-F740-B152-8B41A2A4EF26}"/>
              </a:ext>
            </a:extLst>
          </p:cNvPr>
          <p:cNvSpPr txBox="1"/>
          <p:nvPr/>
        </p:nvSpPr>
        <p:spPr>
          <a:xfrm>
            <a:off x="8143452" y="1948266"/>
            <a:ext cx="2033313" cy="1323439"/>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err="1"/>
              <a:t>Logaritmic</a:t>
            </a:r>
            <a:r>
              <a:rPr lang="es-ES" sz="2000"/>
              <a:t> </a:t>
            </a:r>
            <a:r>
              <a:rPr lang="es-ES" sz="2000" err="1"/>
              <a:t>units</a:t>
            </a:r>
            <a:endParaRPr lang="en-US" sz="2000"/>
          </a:p>
        </p:txBody>
      </p:sp>
      <p:sp>
        <p:nvSpPr>
          <p:cNvPr id="3" name="Rectángulo 2">
            <a:extLst>
              <a:ext uri="{FF2B5EF4-FFF2-40B4-BE49-F238E27FC236}">
                <a16:creationId xmlns:a16="http://schemas.microsoft.com/office/drawing/2014/main" id="{5FB43DF1-4048-35BF-BD58-4BF2A341D2EF}"/>
              </a:ext>
            </a:extLst>
          </p:cNvPr>
          <p:cNvSpPr/>
          <p:nvPr/>
        </p:nvSpPr>
        <p:spPr>
          <a:xfrm>
            <a:off x="4682068" y="4013799"/>
            <a:ext cx="3199959" cy="376066"/>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a:solidFill>
                  <a:schemeClr val="tx1"/>
                </a:solidFill>
                <a:latin typeface="Arial" panose="020B0604020202020204" pitchFamily="34" charset="0"/>
                <a:cs typeface="Arial" panose="020B0604020202020204" pitchFamily="34" charset="0"/>
              </a:rPr>
              <a:t>Hints: </a:t>
            </a:r>
            <a:r>
              <a:rPr lang="en-US" sz="1200">
                <a:solidFill>
                  <a:schemeClr val="tx1"/>
                </a:solidFill>
                <a:latin typeface="Arial" panose="020B0604020202020204" pitchFamily="34" charset="0"/>
                <a:cs typeface="Arial" panose="020B0604020202020204" pitchFamily="34" charset="0"/>
              </a:rPr>
              <a:t>None </a:t>
            </a:r>
            <a:r>
              <a:rPr lang="en-US" sz="1200">
                <a:solidFill>
                  <a:schemeClr val="tx1"/>
                </a:solidFill>
                <a:latin typeface="Arial" panose="020B0604020202020204" pitchFamily="34" charset="0"/>
                <a:cs typeface="Arial" panose="020B0604020202020204" pitchFamily="34" charset="0"/>
                <a:sym typeface="Wingdings" pitchFamily="2" charset="2"/>
              </a:rPr>
              <a:t> </a:t>
            </a:r>
            <a:endParaRPr lang="en-US" sz="1200">
              <a:solidFill>
                <a:schemeClr val="tx1"/>
              </a:solidFill>
              <a:latin typeface="Arial" panose="020B0604020202020204" pitchFamily="34" charset="0"/>
              <a:cs typeface="Arial" panose="020B0604020202020204" pitchFamily="34" charset="0"/>
            </a:endParaRPr>
          </a:p>
        </p:txBody>
      </p:sp>
      <p:sp>
        <p:nvSpPr>
          <p:cNvPr id="14" name="Rectángulo 13">
            <a:extLst>
              <a:ext uri="{FF2B5EF4-FFF2-40B4-BE49-F238E27FC236}">
                <a16:creationId xmlns:a16="http://schemas.microsoft.com/office/drawing/2014/main" id="{6AA857E7-5C39-DCE1-10B5-40300FCF4B26}"/>
              </a:ext>
            </a:extLst>
          </p:cNvPr>
          <p:cNvSpPr/>
          <p:nvPr/>
        </p:nvSpPr>
        <p:spPr>
          <a:xfrm>
            <a:off x="6509658" y="1418372"/>
            <a:ext cx="5300902" cy="2401033"/>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54CF28B4-1346-F41D-2CD8-EA104ABBFB98}"/>
              </a:ext>
            </a:extLst>
          </p:cNvPr>
          <p:cNvSpPr txBox="1"/>
          <p:nvPr/>
        </p:nvSpPr>
        <p:spPr>
          <a:xfrm>
            <a:off x="1880379" y="1936642"/>
            <a:ext cx="2033313" cy="1323439"/>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n-US" sz="2000"/>
          </a:p>
        </p:txBody>
      </p:sp>
      <p:pic>
        <p:nvPicPr>
          <p:cNvPr id="9" name="Gráfico 8">
            <a:extLst>
              <a:ext uri="{FF2B5EF4-FFF2-40B4-BE49-F238E27FC236}">
                <a16:creationId xmlns:a16="http://schemas.microsoft.com/office/drawing/2014/main" id="{83C716FC-7070-6DA5-E116-195D4CD9BD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10" name="object 16">
            <a:extLst>
              <a:ext uri="{FF2B5EF4-FFF2-40B4-BE49-F238E27FC236}">
                <a16:creationId xmlns:a16="http://schemas.microsoft.com/office/drawing/2014/main" id="{C319E249-48A9-70AD-7ACE-23CF9ABF6137}"/>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#4 – Ring Resonator</a:t>
            </a:r>
          </a:p>
          <a:p>
            <a:pPr marL="12700">
              <a:spcBef>
                <a:spcPts val="100"/>
              </a:spcBef>
            </a:pPr>
            <a:r>
              <a:rPr lang="en-US" b="0" kern="0" spc="-5">
                <a:latin typeface="+mj-lt"/>
                <a:cs typeface="Lucida Sans"/>
              </a:rPr>
              <a:t>Single ring resonator – most simple case Constant coupler K (no wavelength variation)</a:t>
            </a:r>
          </a:p>
        </p:txBody>
      </p:sp>
      <p:pic>
        <p:nvPicPr>
          <p:cNvPr id="17" name="Imagen 16">
            <a:extLst>
              <a:ext uri="{FF2B5EF4-FFF2-40B4-BE49-F238E27FC236}">
                <a16:creationId xmlns:a16="http://schemas.microsoft.com/office/drawing/2014/main" id="{0E7D77DA-8D29-90D6-34DD-4E46982CF989}"/>
              </a:ext>
            </a:extLst>
          </p:cNvPr>
          <p:cNvPicPr>
            <a:picLocks noChangeAspect="1"/>
          </p:cNvPicPr>
          <p:nvPr/>
        </p:nvPicPr>
        <p:blipFill>
          <a:blip r:embed="rId4"/>
          <a:srcRect l="976" t="859" r="976" b="50000"/>
          <a:stretch>
            <a:fillRect/>
          </a:stretch>
        </p:blipFill>
        <p:spPr>
          <a:xfrm>
            <a:off x="873089" y="1523421"/>
            <a:ext cx="4959421" cy="2081042"/>
          </a:xfrm>
          <a:prstGeom prst="rect">
            <a:avLst/>
          </a:prstGeom>
        </p:spPr>
      </p:pic>
      <p:pic>
        <p:nvPicPr>
          <p:cNvPr id="19" name="Imagen 18">
            <a:extLst>
              <a:ext uri="{FF2B5EF4-FFF2-40B4-BE49-F238E27FC236}">
                <a16:creationId xmlns:a16="http://schemas.microsoft.com/office/drawing/2014/main" id="{E55C83D0-799A-325B-9D10-6C87E11B4268}"/>
              </a:ext>
            </a:extLst>
          </p:cNvPr>
          <p:cNvPicPr>
            <a:picLocks noChangeAspect="1"/>
          </p:cNvPicPr>
          <p:nvPr/>
        </p:nvPicPr>
        <p:blipFill>
          <a:blip r:embed="rId4"/>
          <a:srcRect t="50000"/>
          <a:stretch>
            <a:fillRect/>
          </a:stretch>
        </p:blipFill>
        <p:spPr>
          <a:xfrm>
            <a:off x="6551912" y="1571595"/>
            <a:ext cx="5128298" cy="2146811"/>
          </a:xfrm>
          <a:prstGeom prst="rect">
            <a:avLst/>
          </a:prstGeom>
        </p:spPr>
      </p:pic>
      <p:pic>
        <p:nvPicPr>
          <p:cNvPr id="21" name="Imagen 20">
            <a:extLst>
              <a:ext uri="{FF2B5EF4-FFF2-40B4-BE49-F238E27FC236}">
                <a16:creationId xmlns:a16="http://schemas.microsoft.com/office/drawing/2014/main" id="{AF0165AD-1AA5-834C-FC25-5C272B215A9F}"/>
              </a:ext>
            </a:extLst>
          </p:cNvPr>
          <p:cNvPicPr>
            <a:picLocks noChangeAspect="1"/>
          </p:cNvPicPr>
          <p:nvPr/>
        </p:nvPicPr>
        <p:blipFill>
          <a:blip r:embed="rId5"/>
          <a:srcRect l="74766" t="50642" b="42980"/>
          <a:stretch>
            <a:fillRect/>
          </a:stretch>
        </p:blipFill>
        <p:spPr>
          <a:xfrm>
            <a:off x="4612217" y="1594425"/>
            <a:ext cx="1262547" cy="267183"/>
          </a:xfrm>
          <a:prstGeom prst="rect">
            <a:avLst/>
          </a:prstGeom>
        </p:spPr>
      </p:pic>
      <p:pic>
        <p:nvPicPr>
          <p:cNvPr id="22" name="Imagen 21">
            <a:extLst>
              <a:ext uri="{FF2B5EF4-FFF2-40B4-BE49-F238E27FC236}">
                <a16:creationId xmlns:a16="http://schemas.microsoft.com/office/drawing/2014/main" id="{CCFF50B4-B40D-9A06-CF25-8C20F81AAA62}"/>
              </a:ext>
            </a:extLst>
          </p:cNvPr>
          <p:cNvPicPr>
            <a:picLocks noChangeAspect="1"/>
          </p:cNvPicPr>
          <p:nvPr/>
        </p:nvPicPr>
        <p:blipFill>
          <a:blip r:embed="rId5"/>
          <a:srcRect l="74766" t="50642" b="42980"/>
          <a:stretch>
            <a:fillRect/>
          </a:stretch>
        </p:blipFill>
        <p:spPr>
          <a:xfrm>
            <a:off x="10387246" y="1609243"/>
            <a:ext cx="1262547" cy="267183"/>
          </a:xfrm>
          <a:prstGeom prst="rect">
            <a:avLst/>
          </a:prstGeom>
        </p:spPr>
      </p:pic>
    </p:spTree>
    <p:extLst>
      <p:ext uri="{BB962C8B-B14F-4D97-AF65-F5344CB8AC3E}">
        <p14:creationId xmlns:p14="http://schemas.microsoft.com/office/powerpoint/2010/main" val="543184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4915C280-A84A-95DA-94D2-FE062C8ED61F}"/>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10</a:t>
            </a:fld>
            <a:endParaRPr lang="en-US"/>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3BC6D2B9-07F5-E2FA-C9AD-029B63B098DA}"/>
                  </a:ext>
                </a:extLst>
              </p:cNvPr>
              <p:cNvSpPr txBox="1"/>
              <p:nvPr/>
            </p:nvSpPr>
            <p:spPr>
              <a:xfrm>
                <a:off x="611030" y="3766038"/>
                <a:ext cx="11199530" cy="256204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describer the transfer function. How’s the dependence on the coupler coefficient? Calculate the Extinction Ratio. How would you achieve critical coupling for the latter design? Justify your answers.</a:t>
                </a:r>
              </a:p>
              <a:p>
                <a:pPr algn="just"/>
                <a:r>
                  <a:rPr lang="es-ES" sz="1200" dirty="0">
                    <a:latin typeface="Arial" panose="020B0604020202020204" pitchFamily="34" charset="0"/>
                    <a:cs typeface="Arial" panose="020B0604020202020204" pitchFamily="34" charset="0"/>
                  </a:rPr>
                  <a:t>La función de transferencia muestra una respuesta espectral con un fondo plano de alta transmisión interrumpido por valles periódicos agudos (resonancias) espaciados exactamente cada 15</a:t>
                </a:r>
                <a:r>
                  <a:rPr lang="es-ES" sz="1200" b="1" dirty="0">
                    <a:latin typeface="Arial" panose="020B0604020202020204" pitchFamily="34" charset="0"/>
                    <a:cs typeface="Arial" panose="020B0604020202020204" pitchFamily="34" charset="0"/>
                  </a:rPr>
                  <a:t> </a:t>
                </a:r>
                <a:r>
                  <a:rPr lang="es-ES" sz="1200" dirty="0">
                    <a:latin typeface="Arial" panose="020B0604020202020204" pitchFamily="34" charset="0"/>
                    <a:cs typeface="Arial" panose="020B0604020202020204" pitchFamily="34" charset="0"/>
                  </a:rPr>
                  <a:t>nm.</a:t>
                </a:r>
              </a:p>
              <a:p>
                <a:pPr algn="just"/>
                <a:r>
                  <a:rPr lang="es-ES" sz="1200" dirty="0">
                    <a:latin typeface="Arial" panose="020B0604020202020204" pitchFamily="34" charset="0"/>
                    <a:cs typeface="Arial" panose="020B0604020202020204" pitchFamily="34" charset="0"/>
                  </a:rPr>
                  <a:t>El coeficiente de acoplamiento (K) determina el ancho y la profundidad de los valles. Si K es muy alto, los valles se vuelven anchos y poco profundos. A medida que K disminuye, las resonancias se hacen más estrechas (mayor factor de calidad Q) y se profundizan hasta alcanzar la condición de acoplo crítico.</a:t>
                </a:r>
                <a:endParaRPr lang="en-US" sz="1200" dirty="0">
                  <a:latin typeface="Arial" panose="020B0604020202020204" pitchFamily="34" charset="0"/>
                  <a:cs typeface="Arial" panose="020B0604020202020204" pitchFamily="34" charset="0"/>
                </a:endParaRPr>
              </a:p>
              <a:p>
                <a:pPr algn="just"/>
                <a:r>
                  <a:rPr lang="es-ES" sz="1200" dirty="0">
                    <a:latin typeface="Arial" panose="020B0604020202020204" pitchFamily="34" charset="0"/>
                    <a:cs typeface="Arial" panose="020B0604020202020204" pitchFamily="34" charset="0"/>
                  </a:rPr>
                  <a:t>Para k = 0.5 (gráfica), el ER = </a:t>
                </a:r>
                <a:r>
                  <a:rPr lang="es-ES" sz="1200" dirty="0" err="1">
                    <a:latin typeface="Arial" panose="020B0604020202020204" pitchFamily="34" charset="0"/>
                    <a:cs typeface="Arial" panose="020B0604020202020204" pitchFamily="34" charset="0"/>
                  </a:rPr>
                  <a:t>Tmáx</a:t>
                </a:r>
                <a:r>
                  <a:rPr lang="es-ES" sz="1200" dirty="0">
                    <a:latin typeface="Arial" panose="020B0604020202020204" pitchFamily="34" charset="0"/>
                    <a:cs typeface="Arial" panose="020B0604020202020204" pitchFamily="34" charset="0"/>
                  </a:rPr>
                  <a:t> – </a:t>
                </a:r>
                <a:r>
                  <a:rPr lang="es-ES" sz="1200" dirty="0" err="1">
                    <a:latin typeface="Arial" panose="020B0604020202020204" pitchFamily="34" charset="0"/>
                    <a:cs typeface="Arial" panose="020B0604020202020204" pitchFamily="34" charset="0"/>
                  </a:rPr>
                  <a:t>Tmín</a:t>
                </a:r>
                <a:r>
                  <a:rPr lang="es-ES" sz="1200" dirty="0">
                    <a:latin typeface="Arial" panose="020B0604020202020204" pitchFamily="34" charset="0"/>
                    <a:cs typeface="Arial" panose="020B0604020202020204" pitchFamily="34" charset="0"/>
                  </a:rPr>
                  <a:t> = 10.12 dB. Con este valor, indica una disminución de transmisión en resonancia (el sistema no se encuentra en acoplo crítico).</a:t>
                </a:r>
              </a:p>
              <a:p>
                <a:pPr algn="just"/>
                <a:r>
                  <a:rPr lang="es-ES" sz="1200" dirty="0">
                    <a:latin typeface="Arial" panose="020B0604020202020204" pitchFamily="34" charset="0"/>
                    <a:cs typeface="Arial" panose="020B0604020202020204" pitchFamily="34" charset="0"/>
                  </a:rPr>
                  <a:t>El acoplo crítico ocurre cuando la potencia transmitida en resonancia cae a cero absoluto (-</a:t>
                </a:r>
                <a:r>
                  <a:rPr lang="es-ES" sz="1200" dirty="0">
                    <a:cs typeface="Arial" panose="020B0604020202020204" pitchFamily="34" charset="0"/>
                  </a:rPr>
                  <a:t> </a:t>
                </a:r>
                <a14:m>
                  <m:oMath xmlns:m="http://schemas.openxmlformats.org/officeDocument/2006/math">
                    <m:r>
                      <a:rPr lang="es-ES" sz="1200" i="1">
                        <a:latin typeface="Cambria Math" panose="02040503050406030204" pitchFamily="18" charset="0"/>
                        <a:cs typeface="Arial" panose="020B0604020202020204" pitchFamily="34" charset="0"/>
                      </a:rPr>
                      <m:t>∞ </m:t>
                    </m:r>
                  </m:oMath>
                </a14:m>
                <a:r>
                  <a:rPr lang="es-ES" sz="1200" dirty="0">
                    <a:latin typeface="Arial" panose="020B0604020202020204" pitchFamily="34" charset="0"/>
                    <a:cs typeface="Arial" panose="020B0604020202020204" pitchFamily="34" charset="0"/>
                  </a:rPr>
                  <a:t>dB), lo cual sucede cuando el coeficiente de acoplo (K) iguala exactamente a la pérdida por potencia en una vuelta completa del anillo (</a:t>
                </a:r>
                <a:r>
                  <a:rPr lang="es-ES" sz="1200" dirty="0" err="1">
                    <a:latin typeface="Arial" panose="020B0604020202020204" pitchFamily="34" charset="0"/>
                    <a:cs typeface="Arial" panose="020B0604020202020204" pitchFamily="34" charset="0"/>
                  </a:rPr>
                  <a:t>Kcrit</a:t>
                </a:r>
                <a:r>
                  <a:rPr lang="es-ES" sz="1200" dirty="0">
                    <a:latin typeface="Arial" panose="020B0604020202020204" pitchFamily="34" charset="0"/>
                    <a:cs typeface="Arial" panose="020B0604020202020204" pitchFamily="34" charset="0"/>
                  </a:rPr>
                  <a:t> = 1 - </a:t>
                </a:r>
                <a14:m>
                  <m:oMath xmlns:m="http://schemas.openxmlformats.org/officeDocument/2006/math">
                    <m:sSup>
                      <m:sSupPr>
                        <m:ctrlPr>
                          <a:rPr lang="es-ES" sz="1200" i="1" smtClean="0">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𝑎</m:t>
                        </m:r>
                      </m:e>
                      <m:sup>
                        <m:r>
                          <a:rPr lang="es-ES" sz="1200" b="0" i="1" smtClean="0">
                            <a:latin typeface="Cambria Math" panose="02040503050406030204" pitchFamily="18" charset="0"/>
                            <a:cs typeface="Arial" panose="020B0604020202020204" pitchFamily="34" charset="0"/>
                          </a:rPr>
                          <m:t>2</m:t>
                        </m:r>
                      </m:sup>
                    </m:sSup>
                  </m:oMath>
                </a14:m>
                <a:r>
                  <a:rPr lang="es-ES" sz="1200" dirty="0">
                    <a:latin typeface="Arial" panose="020B0604020202020204" pitchFamily="34" charset="0"/>
                    <a:cs typeface="Arial" panose="020B0604020202020204" pitchFamily="34" charset="0"/>
                  </a:rPr>
                  <a:t>). Con una pérdida de 0.02dB/</a:t>
                </a:r>
                <a:r>
                  <a:rPr lang="es-ES" sz="1200" dirty="0" err="1">
                    <a:latin typeface="Arial" panose="020B0604020202020204" pitchFamily="34" charset="0"/>
                    <a:cs typeface="Arial" panose="020B0604020202020204" pitchFamily="34" charset="0"/>
                  </a:rPr>
                  <a:t>um</a:t>
                </a:r>
                <a:r>
                  <a:rPr lang="es-ES" sz="1200" dirty="0">
                    <a:latin typeface="Arial" panose="020B0604020202020204" pitchFamily="34" charset="0"/>
                    <a:cs typeface="Arial" panose="020B0604020202020204" pitchFamily="34" charset="0"/>
                  </a:rPr>
                  <a:t> y un perímetro de 80.083um, la atenuación por vuelta es de 1.60dB. El factor de transmisión interna es </a:t>
                </a:r>
                <a14:m>
                  <m:oMath xmlns:m="http://schemas.openxmlformats.org/officeDocument/2006/math">
                    <m:sSup>
                      <m:sSupPr>
                        <m:ctrlPr>
                          <a:rPr lang="es-ES" sz="1200" i="1">
                            <a:latin typeface="Cambria Math" panose="02040503050406030204" pitchFamily="18" charset="0"/>
                            <a:cs typeface="Arial" panose="020B0604020202020204" pitchFamily="34" charset="0"/>
                          </a:rPr>
                        </m:ctrlPr>
                      </m:sSupPr>
                      <m:e>
                        <m:r>
                          <a:rPr lang="es-ES" sz="1200" i="1">
                            <a:latin typeface="Cambria Math" panose="02040503050406030204" pitchFamily="18" charset="0"/>
                            <a:cs typeface="Arial" panose="020B0604020202020204" pitchFamily="34" charset="0"/>
                          </a:rPr>
                          <m:t>𝑎</m:t>
                        </m:r>
                      </m:e>
                      <m:sup>
                        <m:r>
                          <a:rPr lang="es-ES" sz="1200" i="1">
                            <a:latin typeface="Cambria Math" panose="02040503050406030204" pitchFamily="18" charset="0"/>
                            <a:cs typeface="Arial" panose="020B0604020202020204" pitchFamily="34" charset="0"/>
                          </a:rPr>
                          <m:t>2</m:t>
                        </m:r>
                      </m:sup>
                    </m:sSup>
                    <m:r>
                      <a:rPr lang="es-ES" sz="1200" i="1">
                        <a:latin typeface="Cambria Math" panose="02040503050406030204" pitchFamily="18" charset="0"/>
                        <a:cs typeface="Arial" panose="020B0604020202020204" pitchFamily="34" charset="0"/>
                      </a:rPr>
                      <m:t> </m:t>
                    </m:r>
                  </m:oMath>
                </a14:m>
                <a:r>
                  <a:rPr lang="es-ES" sz="1200" dirty="0">
                    <a:latin typeface="Arial" panose="020B0604020202020204" pitchFamily="34" charset="0"/>
                    <a:cs typeface="Arial" panose="020B0604020202020204" pitchFamily="34" charset="0"/>
                  </a:rPr>
                  <a:t>= </a:t>
                </a:r>
                <a14:m>
                  <m:oMath xmlns:m="http://schemas.openxmlformats.org/officeDocument/2006/math">
                    <m:sSup>
                      <m:sSupPr>
                        <m:ctrlPr>
                          <a:rPr lang="es-ES" sz="1200" i="1">
                            <a:latin typeface="Cambria Math" panose="02040503050406030204" pitchFamily="18" charset="0"/>
                            <a:cs typeface="Arial" panose="020B0604020202020204" pitchFamily="34" charset="0"/>
                          </a:rPr>
                        </m:ctrlPr>
                      </m:sSupPr>
                      <m:e>
                        <m:r>
                          <a:rPr lang="es-ES" sz="1200" b="0" i="1" smtClean="0">
                            <a:latin typeface="Cambria Math" panose="02040503050406030204" pitchFamily="18" charset="0"/>
                            <a:cs typeface="Arial" panose="020B0604020202020204" pitchFamily="34" charset="0"/>
                          </a:rPr>
                          <m:t>10</m:t>
                        </m:r>
                      </m:e>
                      <m:sup>
                        <m:r>
                          <a:rPr lang="es-ES" sz="1200" b="0" i="1" smtClean="0">
                            <a:latin typeface="Cambria Math" panose="02040503050406030204" pitchFamily="18" charset="0"/>
                            <a:cs typeface="Arial" panose="020B0604020202020204" pitchFamily="34" charset="0"/>
                          </a:rPr>
                          <m:t>−</m:t>
                        </m:r>
                        <m:f>
                          <m:fPr>
                            <m:ctrlPr>
                              <a:rPr lang="es-ES" sz="1200" b="0" i="1" smtClean="0">
                                <a:latin typeface="Cambria Math" panose="02040503050406030204" pitchFamily="18" charset="0"/>
                                <a:cs typeface="Arial" panose="020B0604020202020204" pitchFamily="34" charset="0"/>
                              </a:rPr>
                            </m:ctrlPr>
                          </m:fPr>
                          <m:num>
                            <m:r>
                              <a:rPr lang="es-ES" sz="1200" b="0" i="1" smtClean="0">
                                <a:latin typeface="Cambria Math" panose="02040503050406030204" pitchFamily="18" charset="0"/>
                                <a:cs typeface="Arial" panose="020B0604020202020204" pitchFamily="34" charset="0"/>
                              </a:rPr>
                              <m:t>1.60</m:t>
                            </m:r>
                          </m:num>
                          <m:den>
                            <m:r>
                              <a:rPr lang="es-ES" sz="1200" b="0" i="1" smtClean="0">
                                <a:latin typeface="Cambria Math" panose="02040503050406030204" pitchFamily="18" charset="0"/>
                                <a:cs typeface="Arial" panose="020B0604020202020204" pitchFamily="34" charset="0"/>
                              </a:rPr>
                              <m:t>10</m:t>
                            </m:r>
                          </m:den>
                        </m:f>
                      </m:sup>
                    </m:sSup>
                  </m:oMath>
                </a14:m>
                <a:r>
                  <a:rPr lang="es-ES" sz="1200" dirty="0">
                    <a:latin typeface="Arial" panose="020B0604020202020204" pitchFamily="34" charset="0"/>
                    <a:cs typeface="Arial" panose="020B0604020202020204" pitchFamily="34" charset="0"/>
                  </a:rPr>
                  <a:t> = 0.692. </a:t>
                </a:r>
              </a:p>
              <a:p>
                <a:pPr algn="just"/>
                <a:r>
                  <a:rPr lang="es-ES" sz="1200" dirty="0">
                    <a:latin typeface="Arial" panose="020B0604020202020204" pitchFamily="34" charset="0"/>
                    <a:cs typeface="Arial" panose="020B0604020202020204" pitchFamily="34" charset="0"/>
                  </a:rPr>
                  <a:t>Por lo tanto, el acoplo crítico se logra seleccionando exactamente un K = 0.308 (o </a:t>
                </a:r>
                <a:r>
                  <a:rPr lang="es-ES" sz="1200" dirty="0" err="1">
                    <a:latin typeface="Arial" panose="020B0604020202020204" pitchFamily="34" charset="0"/>
                    <a:cs typeface="Arial" panose="020B0604020202020204" pitchFamily="34" charset="0"/>
                  </a:rPr>
                  <a:t>coupling</a:t>
                </a:r>
                <a:r>
                  <a:rPr lang="es-ES" sz="1200" dirty="0">
                    <a:latin typeface="Arial" panose="020B0604020202020204" pitchFamily="34" charset="0"/>
                    <a:cs typeface="Arial" panose="020B0604020202020204" pitchFamily="34" charset="0"/>
                  </a:rPr>
                  <a:t> = 0.31)</a:t>
                </a:r>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 </a:t>
                </a:r>
              </a:p>
            </p:txBody>
          </p:sp>
        </mc:Choice>
        <mc:Fallback>
          <p:sp>
            <p:nvSpPr>
              <p:cNvPr id="8" name="CuadroTexto 7">
                <a:extLst>
                  <a:ext uri="{FF2B5EF4-FFF2-40B4-BE49-F238E27FC236}">
                    <a16:creationId xmlns:a16="http://schemas.microsoft.com/office/drawing/2014/main" id="{3BC6D2B9-07F5-E2FA-C9AD-029B63B098DA}"/>
                  </a:ext>
                </a:extLst>
              </p:cNvPr>
              <p:cNvSpPr txBox="1">
                <a:spLocks noRot="1" noChangeAspect="1" noMove="1" noResize="1" noEditPoints="1" noAdjustHandles="1" noChangeArrowheads="1" noChangeShapeType="1" noTextEdit="1"/>
              </p:cNvSpPr>
              <p:nvPr/>
            </p:nvSpPr>
            <p:spPr>
              <a:xfrm>
                <a:off x="611030" y="3766038"/>
                <a:ext cx="11199530" cy="2562048"/>
              </a:xfrm>
              <a:prstGeom prst="rect">
                <a:avLst/>
              </a:prstGeom>
              <a:blipFill>
                <a:blip r:embed="rId2"/>
                <a:stretch>
                  <a:fillRect/>
                </a:stretch>
              </a:blipFill>
              <a:ln w="28575">
                <a:solidFill>
                  <a:srgbClr val="E0700D"/>
                </a:solidFill>
              </a:ln>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 name="Rectángulo 2">
                <a:extLst>
                  <a:ext uri="{FF2B5EF4-FFF2-40B4-BE49-F238E27FC236}">
                    <a16:creationId xmlns:a16="http://schemas.microsoft.com/office/drawing/2014/main" id="{E54DA3AC-DFE0-BB51-7C71-7CD9087359D0}"/>
                  </a:ext>
                </a:extLst>
              </p:cNvPr>
              <p:cNvSpPr/>
              <p:nvPr/>
            </p:nvSpPr>
            <p:spPr>
              <a:xfrm>
                <a:off x="8610601" y="1418373"/>
                <a:ext cx="3199959" cy="2137627"/>
              </a:xfrm>
              <a:prstGeom prst="rect">
                <a:avLst/>
              </a:prstGeom>
              <a:solidFill>
                <a:schemeClr val="bg1">
                  <a:lumMod val="95000"/>
                </a:schemeClr>
              </a:solid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just"/>
                <a:r>
                  <a:rPr lang="en-US" sz="1200" b="1">
                    <a:solidFill>
                      <a:schemeClr val="tx1"/>
                    </a:solidFill>
                    <a:latin typeface="Arial" panose="020B0604020202020204" pitchFamily="34" charset="0"/>
                    <a:cs typeface="Arial" panose="020B0604020202020204" pitchFamily="34" charset="0"/>
                  </a:rPr>
                  <a:t>Hints:</a:t>
                </a:r>
                <a:endParaRPr lang="en-US" sz="1200">
                  <a:solidFill>
                    <a:schemeClr val="tx1"/>
                  </a:solidFill>
                  <a:latin typeface="Arial" panose="020B0604020202020204" pitchFamily="34" charset="0"/>
                  <a:cs typeface="Arial" panose="020B0604020202020204" pitchFamily="34" charset="0"/>
                </a:endParaRPr>
              </a:p>
              <a:p>
                <a:pPr algn="just"/>
                <a:endParaRPr lang="en-US" sz="1200">
                  <a:solidFill>
                    <a:schemeClr val="tx1"/>
                  </a:solidFill>
                  <a:latin typeface="Arial" panose="020B0604020202020204" pitchFamily="34" charset="0"/>
                  <a:cs typeface="Arial" panose="020B0604020202020204" pitchFamily="34" charset="0"/>
                </a:endParaRPr>
              </a:p>
              <a:p>
                <a:pPr algn="just"/>
                <a:r>
                  <a:rPr lang="en-US" sz="1200">
                    <a:solidFill>
                      <a:schemeClr val="tx1"/>
                    </a:solidFill>
                    <a:latin typeface="Arial" panose="020B0604020202020204" pitchFamily="34" charset="0"/>
                    <a:cs typeface="Arial" panose="020B0604020202020204" pitchFamily="34" charset="0"/>
                  </a:rPr>
                  <a:t>Design the perimeter for a FSR = 15 nm. </a:t>
                </a:r>
              </a:p>
              <a:p>
                <a:pPr algn="just"/>
                <a:endParaRPr lang="en-US" sz="1200">
                  <a:solidFill>
                    <a:schemeClr val="tx1"/>
                  </a:solidFill>
                  <a:latin typeface="Arial" panose="020B0604020202020204" pitchFamily="34" charset="0"/>
                  <a:cs typeface="Arial" panose="020B0604020202020204" pitchFamily="34" charset="0"/>
                </a:endParaRPr>
              </a:p>
              <a:p>
                <a:pPr algn="just"/>
                <a:r>
                  <a:rPr lang="en-US" sz="1200">
                    <a:solidFill>
                      <a:schemeClr val="tx1"/>
                    </a:solidFill>
                    <a:latin typeface="Arial" panose="020B0604020202020204" pitchFamily="34" charset="0"/>
                    <a:cs typeface="Arial" panose="020B0604020202020204" pitchFamily="34" charset="0"/>
                  </a:rPr>
                  <a:t>Use equations given in class that relate FSR and perimeter.</a:t>
                </a:r>
              </a:p>
              <a:p>
                <a:pPr algn="just"/>
                <a:endParaRPr lang="en-US" sz="1200">
                  <a:solidFill>
                    <a:schemeClr val="tx1"/>
                  </a:solidFill>
                  <a:latin typeface="Arial" panose="020B0604020202020204" pitchFamily="34" charset="0"/>
                  <a:cs typeface="Arial" panose="020B0604020202020204" pitchFamily="34" charset="0"/>
                </a:endParaRPr>
              </a:p>
              <a:p>
                <a:pPr algn="ctr"/>
                <a:r>
                  <a:rPr lang="es-ES" sz="1200">
                    <a:solidFill>
                      <a:prstClr val="black"/>
                    </a:solidFill>
                    <a:ea typeface="Cambria Math" panose="02040503050406030204" pitchFamily="18" charset="0"/>
                  </a:rPr>
                  <a:t>∆L</a:t>
                </a:r>
                <a14:m>
                  <m:oMath xmlns:m="http://schemas.openxmlformats.org/officeDocument/2006/math">
                    <m:r>
                      <a:rPr kumimoji="0" lang="es-E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m:t>
                    </m:r>
                    <m:f>
                      <m:fPr>
                        <m:ctrlPr>
                          <a:rPr kumimoji="0" lang="es-E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sSup>
                          <m:sSupPr>
                            <m:ctrlPr>
                              <a:rPr kumimoji="0" lang="es-E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l-GR"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𝜆</m:t>
                            </m:r>
                          </m:e>
                          <m:sup>
                            <m:r>
                              <a:rPr kumimoji="0" lang="es-E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sup>
                        </m:sSup>
                      </m:num>
                      <m:den>
                        <m:sSub>
                          <m:sSubPr>
                            <m:ctrlPr>
                              <a:rPr kumimoji="0" lang="es-E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r>
                              <a:rPr kumimoji="0" lang="es-E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𝑛</m:t>
                            </m:r>
                          </m:e>
                          <m:sub>
                            <m:r>
                              <a:rPr kumimoji="0" lang="es-E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𝑔</m:t>
                            </m:r>
                          </m:sub>
                        </m:sSub>
                        <m:r>
                          <a:rPr kumimoji="0" lang="es-E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 </m:t>
                        </m:r>
                        <m:r>
                          <a:rPr lang="es-ES" sz="1200" i="1">
                            <a:solidFill>
                              <a:prstClr val="black"/>
                            </a:solidFill>
                            <a:latin typeface="Cambria Math" panose="02040503050406030204" pitchFamily="18" charset="0"/>
                            <a:ea typeface="Cambria Math" panose="02040503050406030204" pitchFamily="18" charset="0"/>
                          </a:rPr>
                          <m:t>∆</m:t>
                        </m:r>
                        <m:sSub>
                          <m:sSubPr>
                            <m:ctrlPr>
                              <a:rPr lang="es-ES" sz="1200" i="1">
                                <a:solidFill>
                                  <a:prstClr val="black"/>
                                </a:solidFill>
                                <a:latin typeface="Cambria Math" panose="02040503050406030204" pitchFamily="18" charset="0"/>
                                <a:ea typeface="Cambria Math" panose="02040503050406030204" pitchFamily="18" charset="0"/>
                              </a:rPr>
                            </m:ctrlPr>
                          </m:sSubPr>
                          <m:e>
                            <m:r>
                              <a:rPr lang="el-GR" sz="1200" i="1">
                                <a:solidFill>
                                  <a:prstClr val="black"/>
                                </a:solidFill>
                                <a:latin typeface="Cambria Math" panose="02040503050406030204" pitchFamily="18" charset="0"/>
                                <a:ea typeface="Cambria Math" panose="02040503050406030204" pitchFamily="18" charset="0"/>
                              </a:rPr>
                              <m:t>𝜆</m:t>
                            </m:r>
                          </m:e>
                          <m:sub>
                            <m:r>
                              <a:rPr lang="es-ES" sz="1200" i="1">
                                <a:solidFill>
                                  <a:prstClr val="black"/>
                                </a:solidFill>
                                <a:latin typeface="Cambria Math" panose="02040503050406030204" pitchFamily="18" charset="0"/>
                                <a:ea typeface="Cambria Math" panose="02040503050406030204" pitchFamily="18" charset="0"/>
                              </a:rPr>
                              <m:t>𝐹𝑆𝑅</m:t>
                            </m:r>
                          </m:sub>
                        </m:sSub>
                      </m:den>
                    </m:f>
                    <m:r>
                      <a:rPr kumimoji="0" lang="es-E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oMath>
                </a14:m>
                <a:r>
                  <a:rPr kumimoji="0" lang="es-ES" sz="1200" b="0" i="0" u="none" strike="noStrike" kern="1200" cap="none" spc="0" normalizeH="0" baseline="0" noProof="0">
                    <a:ln>
                      <a:noFill/>
                    </a:ln>
                    <a:solidFill>
                      <a:prstClr val="black"/>
                    </a:solidFill>
                    <a:effectLst/>
                    <a:uLnTx/>
                    <a:uFillTx/>
                    <a:latin typeface="Calibri"/>
                    <a:ea typeface="Cambria Math" panose="02040503050406030204" pitchFamily="18" charset="0"/>
                    <a:cs typeface="+mn-cs"/>
                  </a:rPr>
                  <a:t> </a:t>
                </a:r>
                <a14:m>
                  <m:oMath xmlns:m="http://schemas.openxmlformats.org/officeDocument/2006/math">
                    <m:f>
                      <m:fPr>
                        <m:ctrlPr>
                          <a:rPr kumimoji="0" lang="es-E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fPr>
                      <m:num>
                        <m:sSup>
                          <m:sSupPr>
                            <m:ctrlPr>
                              <a:rPr kumimoji="0" lang="es-E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s-E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(1.55</m:t>
                            </m:r>
                            <m:r>
                              <a:rPr kumimoji="0" lang="es-E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𝑢𝑚</m:t>
                            </m:r>
                            <m:r>
                              <a:rPr kumimoji="0" lang="es-E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e>
                          <m:sup>
                            <m:r>
                              <a:rPr kumimoji="0" lang="es-E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2</m:t>
                            </m:r>
                          </m:sup>
                        </m:sSup>
                      </m:num>
                      <m:den>
                        <m:r>
                          <a:rPr kumimoji="0" lang="es-E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2</m:t>
                        </m:r>
                        <m:r>
                          <a:rPr kumimoji="0" lang="es-ES" sz="12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s-E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0.015</m:t>
                        </m:r>
                        <m:r>
                          <a:rPr kumimoji="0" lang="es-E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𝑢𝑚</m:t>
                        </m:r>
                      </m:den>
                    </m:f>
                    <m:r>
                      <a:rPr kumimoji="0" lang="es-E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=80.083 </m:t>
                    </m:r>
                    <m:r>
                      <a:rPr kumimoji="0" lang="es-ES" sz="12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𝑢𝑚</m:t>
                    </m:r>
                  </m:oMath>
                </a14:m>
                <a:endParaRPr lang="en-US" sz="1200">
                  <a:solidFill>
                    <a:schemeClr val="tx1"/>
                  </a:solidFill>
                  <a:latin typeface="Arial" panose="020B0604020202020204" pitchFamily="34" charset="0"/>
                  <a:cs typeface="Arial" panose="020B0604020202020204" pitchFamily="34" charset="0"/>
                </a:endParaRPr>
              </a:p>
              <a:p>
                <a:pPr algn="just"/>
                <a:endParaRPr lang="en-US" sz="1200">
                  <a:solidFill>
                    <a:schemeClr val="tx1"/>
                  </a:solidFill>
                  <a:latin typeface="Arial" panose="020B0604020202020204" pitchFamily="34" charset="0"/>
                  <a:cs typeface="Arial" panose="020B0604020202020204" pitchFamily="34" charset="0"/>
                </a:endParaRPr>
              </a:p>
            </p:txBody>
          </p:sp>
        </mc:Choice>
        <mc:Fallback xmlns="">
          <p:sp>
            <p:nvSpPr>
              <p:cNvPr id="3" name="Rectángulo 2">
                <a:extLst>
                  <a:ext uri="{FF2B5EF4-FFF2-40B4-BE49-F238E27FC236}">
                    <a16:creationId xmlns:a16="http://schemas.microsoft.com/office/drawing/2014/main" id="{E54DA3AC-DFE0-BB51-7C71-7CD9087359D0}"/>
                  </a:ext>
                </a:extLst>
              </p:cNvPr>
              <p:cNvSpPr>
                <a:spLocks noRot="1" noChangeAspect="1" noMove="1" noResize="1" noEditPoints="1" noAdjustHandles="1" noChangeArrowheads="1" noChangeShapeType="1" noTextEdit="1"/>
              </p:cNvSpPr>
              <p:nvPr/>
            </p:nvSpPr>
            <p:spPr>
              <a:xfrm>
                <a:off x="8610601" y="1418373"/>
                <a:ext cx="3199959" cy="2137627"/>
              </a:xfrm>
              <a:prstGeom prst="rect">
                <a:avLst/>
              </a:prstGeom>
              <a:blipFill>
                <a:blip r:embed="rId3"/>
                <a:stretch>
                  <a:fillRect/>
                </a:stretch>
              </a:blipFill>
              <a:ln w="28575">
                <a:solidFill>
                  <a:srgbClr val="E0700D"/>
                </a:solidFill>
              </a:ln>
            </p:spPr>
            <p:txBody>
              <a:bodyPr/>
              <a:lstStyle/>
              <a:p>
                <a:r>
                  <a:rPr lang="en-US">
                    <a:noFill/>
                  </a:rPr>
                  <a:t> </a:t>
                </a:r>
              </a:p>
            </p:txBody>
          </p:sp>
        </mc:Fallback>
      </mc:AlternateContent>
      <p:sp>
        <p:nvSpPr>
          <p:cNvPr id="10" name="Rectángulo 9">
            <a:extLst>
              <a:ext uri="{FF2B5EF4-FFF2-40B4-BE49-F238E27FC236}">
                <a16:creationId xmlns:a16="http://schemas.microsoft.com/office/drawing/2014/main" id="{82011495-88D4-8787-6CB7-704897D84CF9}"/>
              </a:ext>
            </a:extLst>
          </p:cNvPr>
          <p:cNvSpPr/>
          <p:nvPr/>
        </p:nvSpPr>
        <p:spPr>
          <a:xfrm>
            <a:off x="611030" y="1418373"/>
            <a:ext cx="3810000" cy="21376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uadroTexto 11">
            <a:extLst>
              <a:ext uri="{FF2B5EF4-FFF2-40B4-BE49-F238E27FC236}">
                <a16:creationId xmlns:a16="http://schemas.microsoft.com/office/drawing/2014/main" id="{3BD35A6E-6540-9761-4128-0E43122290D4}"/>
              </a:ext>
            </a:extLst>
          </p:cNvPr>
          <p:cNvSpPr txBox="1"/>
          <p:nvPr/>
        </p:nvSpPr>
        <p:spPr>
          <a:xfrm>
            <a:off x="5459031" y="1832586"/>
            <a:ext cx="2033313" cy="1323439"/>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err="1"/>
              <a:t>Logaritmic</a:t>
            </a:r>
            <a:r>
              <a:rPr lang="es-ES" sz="2000"/>
              <a:t> </a:t>
            </a:r>
            <a:r>
              <a:rPr lang="es-ES" sz="2000" err="1"/>
              <a:t>units</a:t>
            </a:r>
            <a:endParaRPr lang="en-US" sz="2000"/>
          </a:p>
        </p:txBody>
      </p:sp>
      <p:sp>
        <p:nvSpPr>
          <p:cNvPr id="13" name="Rectángulo 12">
            <a:extLst>
              <a:ext uri="{FF2B5EF4-FFF2-40B4-BE49-F238E27FC236}">
                <a16:creationId xmlns:a16="http://schemas.microsoft.com/office/drawing/2014/main" id="{03798D61-1E16-8473-BDCE-1D97F95EF7BE}"/>
              </a:ext>
            </a:extLst>
          </p:cNvPr>
          <p:cNvSpPr/>
          <p:nvPr/>
        </p:nvSpPr>
        <p:spPr>
          <a:xfrm>
            <a:off x="4648200" y="1418373"/>
            <a:ext cx="3810000" cy="21376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uadroTexto 15">
            <a:extLst>
              <a:ext uri="{FF2B5EF4-FFF2-40B4-BE49-F238E27FC236}">
                <a16:creationId xmlns:a16="http://schemas.microsoft.com/office/drawing/2014/main" id="{B49B3613-E785-3FCB-DA8D-2B43EB104C5D}"/>
              </a:ext>
            </a:extLst>
          </p:cNvPr>
          <p:cNvSpPr txBox="1"/>
          <p:nvPr/>
        </p:nvSpPr>
        <p:spPr>
          <a:xfrm>
            <a:off x="1522030" y="1840333"/>
            <a:ext cx="2033313" cy="1323439"/>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n-US" sz="2000"/>
          </a:p>
        </p:txBody>
      </p:sp>
      <p:pic>
        <p:nvPicPr>
          <p:cNvPr id="11" name="Gráfico 10">
            <a:extLst>
              <a:ext uri="{FF2B5EF4-FFF2-40B4-BE49-F238E27FC236}">
                <a16:creationId xmlns:a16="http://schemas.microsoft.com/office/drawing/2014/main" id="{64B3EEA8-5B6A-F628-0B9C-42450CEE9B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14" name="object 16">
            <a:extLst>
              <a:ext uri="{FF2B5EF4-FFF2-40B4-BE49-F238E27FC236}">
                <a16:creationId xmlns:a16="http://schemas.microsoft.com/office/drawing/2014/main" id="{4E9E05B5-9445-DD50-60E9-03B04ED264D4}"/>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#5 – Ring resonator design</a:t>
            </a:r>
          </a:p>
          <a:p>
            <a:pPr marL="12700">
              <a:spcBef>
                <a:spcPts val="100"/>
              </a:spcBef>
            </a:pPr>
            <a:r>
              <a:rPr lang="en-US" b="0" kern="0" spc="-5">
                <a:latin typeface="+mj-lt"/>
                <a:cs typeface="Lucida Sans"/>
              </a:rPr>
              <a:t>Design the perimeter for a FSR = 15 nm. </a:t>
            </a:r>
          </a:p>
        </p:txBody>
      </p:sp>
      <p:pic>
        <p:nvPicPr>
          <p:cNvPr id="4" name="Imagen 3">
            <a:extLst>
              <a:ext uri="{FF2B5EF4-FFF2-40B4-BE49-F238E27FC236}">
                <a16:creationId xmlns:a16="http://schemas.microsoft.com/office/drawing/2014/main" id="{A26847EE-5CE8-3A6A-4A9F-DA8EF6B57915}"/>
              </a:ext>
            </a:extLst>
          </p:cNvPr>
          <p:cNvPicPr>
            <a:picLocks noChangeAspect="1"/>
          </p:cNvPicPr>
          <p:nvPr/>
        </p:nvPicPr>
        <p:blipFill>
          <a:blip r:embed="rId5"/>
          <a:srcRect b="50000"/>
          <a:stretch>
            <a:fillRect/>
          </a:stretch>
        </p:blipFill>
        <p:spPr>
          <a:xfrm>
            <a:off x="685800" y="1714308"/>
            <a:ext cx="3726516" cy="1559997"/>
          </a:xfrm>
          <a:prstGeom prst="rect">
            <a:avLst/>
          </a:prstGeom>
        </p:spPr>
      </p:pic>
      <p:pic>
        <p:nvPicPr>
          <p:cNvPr id="9" name="Imagen 8">
            <a:extLst>
              <a:ext uri="{FF2B5EF4-FFF2-40B4-BE49-F238E27FC236}">
                <a16:creationId xmlns:a16="http://schemas.microsoft.com/office/drawing/2014/main" id="{43F0263B-B048-3E68-2001-557942501043}"/>
              </a:ext>
            </a:extLst>
          </p:cNvPr>
          <p:cNvPicPr>
            <a:picLocks noChangeAspect="1"/>
          </p:cNvPicPr>
          <p:nvPr/>
        </p:nvPicPr>
        <p:blipFill>
          <a:blip r:embed="rId5"/>
          <a:srcRect t="50000"/>
          <a:stretch>
            <a:fillRect/>
          </a:stretch>
        </p:blipFill>
        <p:spPr>
          <a:xfrm>
            <a:off x="4699000" y="1672572"/>
            <a:ext cx="3733800" cy="1563046"/>
          </a:xfrm>
          <a:prstGeom prst="rect">
            <a:avLst/>
          </a:prstGeom>
        </p:spPr>
      </p:pic>
    </p:spTree>
    <p:extLst>
      <p:ext uri="{BB962C8B-B14F-4D97-AF65-F5344CB8AC3E}">
        <p14:creationId xmlns:p14="http://schemas.microsoft.com/office/powerpoint/2010/main" val="2915989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C960B-65D5-7C41-3274-C1D04C0506D4}"/>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504CDE68-8268-621C-86FF-07F5E417440A}"/>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D4433309-6C99-7154-2FE9-7919E551B64A}"/>
              </a:ext>
            </a:extLst>
          </p:cNvPr>
          <p:cNvSpPr>
            <a:spLocks noGrp="1"/>
          </p:cNvSpPr>
          <p:nvPr>
            <p:ph type="sldNum" sz="quarter" idx="7"/>
          </p:nvPr>
        </p:nvSpPr>
        <p:spPr/>
        <p:txBody>
          <a:bodyPr/>
          <a:lstStyle/>
          <a:p>
            <a:fld id="{C2F52289-4012-4053-9770-FE82CEB9514F}" type="slidenum">
              <a:rPr lang="en-US" smtClean="0"/>
              <a:pPr/>
              <a:t>11</a:t>
            </a:fld>
            <a:endParaRPr lang="en-US"/>
          </a:p>
        </p:txBody>
      </p:sp>
      <p:sp>
        <p:nvSpPr>
          <p:cNvPr id="8" name="CuadroTexto 7">
            <a:extLst>
              <a:ext uri="{FF2B5EF4-FFF2-40B4-BE49-F238E27FC236}">
                <a16:creationId xmlns:a16="http://schemas.microsoft.com/office/drawing/2014/main" id="{AB9AAA77-CD1D-D19D-C4CE-E148C2A34C83}"/>
              </a:ext>
            </a:extLst>
          </p:cNvPr>
          <p:cNvSpPr txBox="1"/>
          <p:nvPr/>
        </p:nvSpPr>
        <p:spPr>
          <a:xfrm>
            <a:off x="611029" y="4860335"/>
            <a:ext cx="11199530"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a:latin typeface="Arial" panose="020B0604020202020204" pitchFamily="34" charset="0"/>
                <a:cs typeface="Arial" panose="020B0604020202020204" pitchFamily="34" charset="0"/>
              </a:rPr>
              <a:t>Comment results: Try to classify the resonances, in which case are you close to critical coupling? Why?</a:t>
            </a:r>
          </a:p>
          <a:p>
            <a:pPr marL="171450" indent="-171450" algn="just">
              <a:buFontTx/>
              <a:buChar char="-"/>
            </a:pPr>
            <a:r>
              <a:rPr lang="es-ES" sz="1200" err="1">
                <a:latin typeface="Arial" panose="020B0604020202020204" pitchFamily="34" charset="0"/>
                <a:cs typeface="Arial" panose="020B0604020202020204" pitchFamily="34" charset="0"/>
              </a:rPr>
              <a:t>Subacoplado</a:t>
            </a:r>
            <a:r>
              <a:rPr lang="es-ES" sz="1200">
                <a:latin typeface="Arial" panose="020B0604020202020204" pitchFamily="34" charset="0"/>
                <a:cs typeface="Arial" panose="020B0604020202020204" pitchFamily="34" charset="0"/>
              </a:rPr>
              <a:t> (</a:t>
            </a:r>
            <a:r>
              <a:rPr lang="es-ES" sz="1200" err="1">
                <a:latin typeface="Arial" panose="020B0604020202020204" pitchFamily="34" charset="0"/>
                <a:cs typeface="Arial" panose="020B0604020202020204" pitchFamily="34" charset="0"/>
              </a:rPr>
              <a:t>Under-coupled</a:t>
            </a:r>
            <a:r>
              <a:rPr lang="es-ES" sz="1200">
                <a:latin typeface="Arial" panose="020B0604020202020204" pitchFamily="34" charset="0"/>
                <a:cs typeface="Arial" panose="020B0604020202020204" pitchFamily="34" charset="0"/>
              </a:rPr>
              <a:t>) para K &lt; 0.3: Valles estrechos, pero poco profundos; las pérdidas del anillo superan al acoplamiento.</a:t>
            </a:r>
          </a:p>
          <a:p>
            <a:pPr marL="171450" indent="-171450" algn="just">
              <a:buFontTx/>
              <a:buChar char="-"/>
            </a:pPr>
            <a:r>
              <a:rPr lang="es-ES" sz="1200">
                <a:latin typeface="Arial" panose="020B0604020202020204" pitchFamily="34" charset="0"/>
                <a:cs typeface="Arial" panose="020B0604020202020204" pitchFamily="34" charset="0"/>
              </a:rPr>
              <a:t>Acoplo Crítico (</a:t>
            </a:r>
            <a:r>
              <a:rPr lang="es-ES" sz="1200" err="1">
                <a:latin typeface="Arial" panose="020B0604020202020204" pitchFamily="34" charset="0"/>
                <a:cs typeface="Arial" panose="020B0604020202020204" pitchFamily="34" charset="0"/>
              </a:rPr>
              <a:t>Critical</a:t>
            </a:r>
            <a:r>
              <a:rPr lang="es-ES" sz="1200">
                <a:latin typeface="Arial" panose="020B0604020202020204" pitchFamily="34" charset="0"/>
                <a:cs typeface="Arial" panose="020B0604020202020204" pitchFamily="34" charset="0"/>
              </a:rPr>
              <a:t> </a:t>
            </a:r>
            <a:r>
              <a:rPr lang="es-ES" sz="1200" err="1">
                <a:latin typeface="Arial" panose="020B0604020202020204" pitchFamily="34" charset="0"/>
                <a:cs typeface="Arial" panose="020B0604020202020204" pitchFamily="34" charset="0"/>
              </a:rPr>
              <a:t>coupling</a:t>
            </a:r>
            <a:r>
              <a:rPr lang="es-ES" sz="1200">
                <a:latin typeface="Arial" panose="020B0604020202020204" pitchFamily="34" charset="0"/>
                <a:cs typeface="Arial" panose="020B0604020202020204" pitchFamily="34" charset="0"/>
              </a:rPr>
              <a:t>) en K = 0.3: El valle se vuelve infinitamente profundo. </a:t>
            </a:r>
          </a:p>
          <a:p>
            <a:pPr marL="171450" indent="-171450" algn="just">
              <a:buFontTx/>
              <a:buChar char="-"/>
            </a:pPr>
            <a:r>
              <a:rPr lang="es-ES" sz="1200" err="1">
                <a:latin typeface="Arial" panose="020B0604020202020204" pitchFamily="34" charset="0"/>
                <a:cs typeface="Arial" panose="020B0604020202020204" pitchFamily="34" charset="0"/>
              </a:rPr>
              <a:t>Sobracoplado</a:t>
            </a:r>
            <a:r>
              <a:rPr lang="es-ES" sz="1200">
                <a:latin typeface="Arial" panose="020B0604020202020204" pitchFamily="34" charset="0"/>
                <a:cs typeface="Arial" panose="020B0604020202020204" pitchFamily="34" charset="0"/>
              </a:rPr>
              <a:t> (Over-</a:t>
            </a:r>
            <a:r>
              <a:rPr lang="es-ES" sz="1200" err="1">
                <a:latin typeface="Arial" panose="020B0604020202020204" pitchFamily="34" charset="0"/>
                <a:cs typeface="Arial" panose="020B0604020202020204" pitchFamily="34" charset="0"/>
              </a:rPr>
              <a:t>coupled</a:t>
            </a:r>
            <a:r>
              <a:rPr lang="es-ES" sz="1200">
                <a:latin typeface="Arial" panose="020B0604020202020204" pitchFamily="34" charset="0"/>
                <a:cs typeface="Arial" panose="020B0604020202020204" pitchFamily="34" charset="0"/>
              </a:rPr>
              <a:t>) para K &gt; 0.3: El acoplamiento supera a las pérdidas. Los valles se ensanchan masivamente, se vuelven poco profundos y decae la transmisión máxima fuera de resonancia.</a:t>
            </a:r>
          </a:p>
          <a:p>
            <a:pPr algn="just"/>
            <a:r>
              <a:rPr lang="es-ES" sz="1200">
                <a:latin typeface="Arial" panose="020B0604020202020204" pitchFamily="34" charset="0"/>
                <a:cs typeface="Arial" panose="020B0604020202020204" pitchFamily="34" charset="0"/>
              </a:rPr>
              <a:t>K=0.3 es la única curva cuyo mínimo toca el 0 absoluto en la escala lineal y se hunde por debajo de los -60dB en la logarítmica. Esto demuestra que la potencia que entra al anillo se iguala perfectamente con la energía que se disipa en su interior por vuelta, logrando una interferencia destructiva total a la salida.</a:t>
            </a:r>
            <a:endParaRPr lang="en-US" sz="120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DB840301-C7D9-FF9B-CF36-6524A858419E}"/>
              </a:ext>
            </a:extLst>
          </p:cNvPr>
          <p:cNvSpPr/>
          <p:nvPr/>
        </p:nvSpPr>
        <p:spPr>
          <a:xfrm>
            <a:off x="637708" y="1401544"/>
            <a:ext cx="5330505" cy="32297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C26618E2-C50D-6D59-8C7B-ACFD486525A5}"/>
              </a:ext>
            </a:extLst>
          </p:cNvPr>
          <p:cNvSpPr txBox="1"/>
          <p:nvPr/>
        </p:nvSpPr>
        <p:spPr>
          <a:xfrm>
            <a:off x="1169794" y="2023854"/>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a:t>K=0.1</a:t>
            </a:r>
            <a:endParaRPr lang="en-US" sz="2000"/>
          </a:p>
        </p:txBody>
      </p:sp>
      <p:sp>
        <p:nvSpPr>
          <p:cNvPr id="9" name="Rectángulo 8">
            <a:extLst>
              <a:ext uri="{FF2B5EF4-FFF2-40B4-BE49-F238E27FC236}">
                <a16:creationId xmlns:a16="http://schemas.microsoft.com/office/drawing/2014/main" id="{271491B3-E821-2356-0A7B-30E0516B376A}"/>
              </a:ext>
            </a:extLst>
          </p:cNvPr>
          <p:cNvSpPr/>
          <p:nvPr/>
        </p:nvSpPr>
        <p:spPr>
          <a:xfrm>
            <a:off x="6249744" y="1401544"/>
            <a:ext cx="5430466" cy="324482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BDB2FC12-56BF-1338-EB4C-EE30C7BB7B38}"/>
              </a:ext>
            </a:extLst>
          </p:cNvPr>
          <p:cNvSpPr txBox="1"/>
          <p:nvPr/>
        </p:nvSpPr>
        <p:spPr>
          <a:xfrm>
            <a:off x="3836079" y="2026601"/>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a:t>K=0.2</a:t>
            </a:r>
            <a:endParaRPr lang="en-US" sz="2000"/>
          </a:p>
        </p:txBody>
      </p:sp>
      <p:sp>
        <p:nvSpPr>
          <p:cNvPr id="13" name="CuadroTexto 12">
            <a:extLst>
              <a:ext uri="{FF2B5EF4-FFF2-40B4-BE49-F238E27FC236}">
                <a16:creationId xmlns:a16="http://schemas.microsoft.com/office/drawing/2014/main" id="{65D49A0F-1B89-A7D5-5122-6AD7C9FCB665}"/>
              </a:ext>
            </a:extLst>
          </p:cNvPr>
          <p:cNvSpPr txBox="1"/>
          <p:nvPr/>
        </p:nvSpPr>
        <p:spPr>
          <a:xfrm>
            <a:off x="6501331" y="2023854"/>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a:t>K=0.3</a:t>
            </a:r>
            <a:endParaRPr lang="en-US" sz="2000"/>
          </a:p>
        </p:txBody>
      </p:sp>
      <p:sp>
        <p:nvSpPr>
          <p:cNvPr id="12" name="CuadroTexto 11">
            <a:extLst>
              <a:ext uri="{FF2B5EF4-FFF2-40B4-BE49-F238E27FC236}">
                <a16:creationId xmlns:a16="http://schemas.microsoft.com/office/drawing/2014/main" id="{182BE07F-BCFE-80CA-753C-99A4957D1698}"/>
              </a:ext>
            </a:extLst>
          </p:cNvPr>
          <p:cNvSpPr txBox="1"/>
          <p:nvPr/>
        </p:nvSpPr>
        <p:spPr>
          <a:xfrm>
            <a:off x="10176019" y="2793295"/>
            <a:ext cx="360996" cy="400110"/>
          </a:xfrm>
          <a:prstGeom prst="rect">
            <a:avLst/>
          </a:prstGeom>
          <a:noFill/>
        </p:spPr>
        <p:txBody>
          <a:bodyPr wrap="none" rtlCol="0">
            <a:spAutoFit/>
          </a:bodyPr>
          <a:lstStyle/>
          <a:p>
            <a:pPr algn="ctr"/>
            <a:r>
              <a:rPr lang="es-ES" sz="2000"/>
              <a:t>…</a:t>
            </a:r>
            <a:endParaRPr lang="en-US" sz="2000"/>
          </a:p>
        </p:txBody>
      </p:sp>
      <p:pic>
        <p:nvPicPr>
          <p:cNvPr id="3" name="Gráfico 2">
            <a:extLst>
              <a:ext uri="{FF2B5EF4-FFF2-40B4-BE49-F238E27FC236}">
                <a16:creationId xmlns:a16="http://schemas.microsoft.com/office/drawing/2014/main" id="{42E54704-E27D-C6BD-347F-0C9BE3FBA0A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6" name="object 16">
            <a:extLst>
              <a:ext uri="{FF2B5EF4-FFF2-40B4-BE49-F238E27FC236}">
                <a16:creationId xmlns:a16="http://schemas.microsoft.com/office/drawing/2014/main" id="{F7074690-8C41-4693-EF14-58B850108110}"/>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#6a – Effect of K </a:t>
            </a:r>
          </a:p>
          <a:p>
            <a:pPr marL="12700">
              <a:spcBef>
                <a:spcPts val="100"/>
              </a:spcBef>
            </a:pPr>
            <a:r>
              <a:rPr lang="en-US" b="0" kern="0" spc="-5">
                <a:latin typeface="+mj-lt"/>
                <a:cs typeface="Lucida Sans"/>
              </a:rPr>
              <a:t>Change K value between 0.1 and 0.9 in steps of 0.1</a:t>
            </a:r>
          </a:p>
        </p:txBody>
      </p:sp>
      <p:sp>
        <p:nvSpPr>
          <p:cNvPr id="4" name="CuadroTexto 3">
            <a:extLst>
              <a:ext uri="{FF2B5EF4-FFF2-40B4-BE49-F238E27FC236}">
                <a16:creationId xmlns:a16="http://schemas.microsoft.com/office/drawing/2014/main" id="{8529BC24-4A86-ED30-AA4A-12C5DFF4D013}"/>
              </a:ext>
            </a:extLst>
          </p:cNvPr>
          <p:cNvSpPr txBox="1"/>
          <p:nvPr/>
        </p:nvSpPr>
        <p:spPr>
          <a:xfrm>
            <a:off x="9167616" y="2023854"/>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a:t>K=0.4</a:t>
            </a:r>
            <a:endParaRPr lang="en-US" sz="2000"/>
          </a:p>
        </p:txBody>
      </p:sp>
      <p:pic>
        <p:nvPicPr>
          <p:cNvPr id="7" name="Imagen 6">
            <a:extLst>
              <a:ext uri="{FF2B5EF4-FFF2-40B4-BE49-F238E27FC236}">
                <a16:creationId xmlns:a16="http://schemas.microsoft.com/office/drawing/2014/main" id="{150E96A3-C3BB-3672-448A-F599D3702E1A}"/>
              </a:ext>
            </a:extLst>
          </p:cNvPr>
          <p:cNvPicPr>
            <a:picLocks noChangeAspect="1"/>
          </p:cNvPicPr>
          <p:nvPr/>
        </p:nvPicPr>
        <p:blipFill>
          <a:blip r:embed="rId3"/>
          <a:srcRect b="52310"/>
          <a:stretch>
            <a:fillRect/>
          </a:stretch>
        </p:blipFill>
        <p:spPr>
          <a:xfrm>
            <a:off x="709624" y="1577216"/>
            <a:ext cx="5186671" cy="2878381"/>
          </a:xfrm>
          <a:prstGeom prst="rect">
            <a:avLst/>
          </a:prstGeom>
        </p:spPr>
      </p:pic>
      <p:pic>
        <p:nvPicPr>
          <p:cNvPr id="17" name="Imagen 16">
            <a:extLst>
              <a:ext uri="{FF2B5EF4-FFF2-40B4-BE49-F238E27FC236}">
                <a16:creationId xmlns:a16="http://schemas.microsoft.com/office/drawing/2014/main" id="{D0EAD1BC-5DFC-AD33-4D13-E8D13E736CDB}"/>
              </a:ext>
            </a:extLst>
          </p:cNvPr>
          <p:cNvPicPr>
            <a:picLocks noChangeAspect="1"/>
          </p:cNvPicPr>
          <p:nvPr/>
        </p:nvPicPr>
        <p:blipFill>
          <a:blip r:embed="rId3"/>
          <a:srcRect t="50000"/>
          <a:stretch>
            <a:fillRect/>
          </a:stretch>
        </p:blipFill>
        <p:spPr>
          <a:xfrm>
            <a:off x="6404602" y="1577216"/>
            <a:ext cx="5182490" cy="3015344"/>
          </a:xfrm>
          <a:prstGeom prst="rect">
            <a:avLst/>
          </a:prstGeom>
        </p:spPr>
      </p:pic>
    </p:spTree>
    <p:extLst>
      <p:ext uri="{BB962C8B-B14F-4D97-AF65-F5344CB8AC3E}">
        <p14:creationId xmlns:p14="http://schemas.microsoft.com/office/powerpoint/2010/main" val="2131966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DC62C-CF66-4D42-28D8-9D1B067FE872}"/>
            </a:ext>
          </a:extLst>
        </p:cNvPr>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045073BE-F395-3DC0-3023-D1CD2F8EF6CB}"/>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94137C80-B280-05A6-EEA2-F7C1CD876ECC}"/>
              </a:ext>
            </a:extLst>
          </p:cNvPr>
          <p:cNvSpPr>
            <a:spLocks noGrp="1"/>
          </p:cNvSpPr>
          <p:nvPr>
            <p:ph type="sldNum" sz="quarter" idx="7"/>
          </p:nvPr>
        </p:nvSpPr>
        <p:spPr/>
        <p:txBody>
          <a:bodyPr/>
          <a:lstStyle/>
          <a:p>
            <a:fld id="{C2F52289-4012-4053-9770-FE82CEB9514F}" type="slidenum">
              <a:rPr lang="en-US" smtClean="0"/>
              <a:pPr/>
              <a:t>12</a:t>
            </a:fld>
            <a:endParaRPr lang="en-US"/>
          </a:p>
        </p:txBody>
      </p:sp>
      <p:sp>
        <p:nvSpPr>
          <p:cNvPr id="8" name="CuadroTexto 7">
            <a:extLst>
              <a:ext uri="{FF2B5EF4-FFF2-40B4-BE49-F238E27FC236}">
                <a16:creationId xmlns:a16="http://schemas.microsoft.com/office/drawing/2014/main" id="{01F81544-ED3B-715D-44CE-DB191B73258D}"/>
              </a:ext>
            </a:extLst>
          </p:cNvPr>
          <p:cNvSpPr txBox="1"/>
          <p:nvPr/>
        </p:nvSpPr>
        <p:spPr>
          <a:xfrm>
            <a:off x="611029" y="4706392"/>
            <a:ext cx="11199530"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Comment results. Try to classify the resonances, in which case are you close to critical coupling? Why?</a:t>
            </a:r>
            <a:endParaRPr lang="en-US" sz="1200" dirty="0">
              <a:latin typeface="Arial" panose="020B0604020202020204" pitchFamily="34" charset="0"/>
              <a:cs typeface="Arial" panose="020B0604020202020204" pitchFamily="34" charset="0"/>
            </a:endParaRPr>
          </a:p>
          <a:p>
            <a:pPr marL="171450" indent="-171450" algn="just">
              <a:buFontTx/>
              <a:buChar char="-"/>
            </a:pPr>
            <a:r>
              <a:rPr lang="es-ES" sz="1200" dirty="0">
                <a:latin typeface="Arial" panose="020B0604020202020204" pitchFamily="34" charset="0"/>
                <a:cs typeface="Arial" panose="020B0604020202020204" pitchFamily="34" charset="0"/>
              </a:rPr>
              <a:t>Caso Ideal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 0dB/cm): Línea totalmente plana en 1.0 (0dB). Al no haber pérdidas, toda la luz que entra al anillo vuelve a salir intacta.</a:t>
            </a:r>
          </a:p>
          <a:p>
            <a:pPr marL="171450" indent="-171450" algn="just">
              <a:buFontTx/>
              <a:buChar char="-"/>
            </a:pPr>
            <a:r>
              <a:rPr lang="es-ES" sz="1200" dirty="0" err="1">
                <a:latin typeface="Arial" panose="020B0604020202020204" pitchFamily="34" charset="0"/>
                <a:cs typeface="Arial" panose="020B0604020202020204" pitchFamily="34" charset="0"/>
              </a:rPr>
              <a:t>Sobracoplado</a:t>
            </a:r>
            <a:r>
              <a:rPr lang="es-ES" sz="1200" dirty="0">
                <a:latin typeface="Arial" panose="020B0604020202020204" pitchFamily="34" charset="0"/>
                <a:cs typeface="Arial" panose="020B0604020202020204" pitchFamily="34" charset="0"/>
              </a:rPr>
              <a:t> (Over-</a:t>
            </a:r>
            <a:r>
              <a:rPr lang="es-ES" sz="1200" dirty="0" err="1">
                <a:latin typeface="Arial" panose="020B0604020202020204" pitchFamily="34" charset="0"/>
                <a:cs typeface="Arial" panose="020B0604020202020204" pitchFamily="34" charset="0"/>
              </a:rPr>
              <a:t>coupled</a:t>
            </a:r>
            <a:r>
              <a:rPr lang="es-ES" sz="1200" dirty="0">
                <a:latin typeface="Arial" panose="020B0604020202020204" pitchFamily="34" charset="0"/>
                <a:cs typeface="Arial" panose="020B0604020202020204" pitchFamily="34" charset="0"/>
              </a:rPr>
              <a:t>) de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 1 a 7dB/cm: Al ser el acoplamiento fijo mayor que las pérdidas de esas curvas, los valles resultantes son muy poco profundos.</a:t>
            </a:r>
          </a:p>
          <a:p>
            <a:pPr marL="171450" indent="-171450" algn="just">
              <a:buFontTx/>
              <a:buChar char="-"/>
            </a:pPr>
            <a:r>
              <a:rPr lang="es-ES" sz="1200" dirty="0">
                <a:latin typeface="Arial" panose="020B0604020202020204" pitchFamily="34" charset="0"/>
                <a:cs typeface="Arial" panose="020B0604020202020204" pitchFamily="34" charset="0"/>
              </a:rPr>
              <a:t>Caso cercano al acoplo crítico: </a:t>
            </a:r>
            <a:r>
              <a:rPr lang="es-ES" sz="1200" dirty="0" err="1">
                <a:latin typeface="Arial" panose="020B0604020202020204" pitchFamily="34" charset="0"/>
                <a:cs typeface="Arial" panose="020B0604020202020204" pitchFamily="34" charset="0"/>
              </a:rPr>
              <a:t>alpha</a:t>
            </a:r>
            <a:r>
              <a:rPr lang="es-ES" sz="1200" dirty="0">
                <a:latin typeface="Arial" panose="020B0604020202020204" pitchFamily="34" charset="0"/>
                <a:cs typeface="Arial" panose="020B0604020202020204" pitchFamily="34" charset="0"/>
              </a:rPr>
              <a:t> = 8dB/cm.</a:t>
            </a:r>
          </a:p>
          <a:p>
            <a:pPr algn="just"/>
            <a:r>
              <a:rPr lang="es-ES" sz="1200" dirty="0">
                <a:latin typeface="Arial" panose="020B0604020202020204" pitchFamily="34" charset="0"/>
                <a:cs typeface="Arial" panose="020B0604020202020204" pitchFamily="34" charset="0"/>
              </a:rPr>
              <a:t>El caso crítico se identifica visualmente porque es la curva que presenta el valle más profundo de todo el barrido (cae hasta 0.09 en lineal y -21dB en logarítmico). Esto demuestra que, a medida que aumentamos las pérdidas internas de la guía, la atenuación por vuelta se va aproximando al valor del acoplamiento fijo, acercando el sistema al punto crítico.</a:t>
            </a:r>
            <a:endParaRPr lang="en-US" sz="1200" dirty="0">
              <a:latin typeface="Arial" panose="020B0604020202020204" pitchFamily="34" charset="0"/>
              <a:cs typeface="Arial" panose="020B0604020202020204" pitchFamily="34" charset="0"/>
            </a:endParaRPr>
          </a:p>
        </p:txBody>
      </p:sp>
      <p:sp>
        <p:nvSpPr>
          <p:cNvPr id="11" name="Rectángulo 10">
            <a:extLst>
              <a:ext uri="{FF2B5EF4-FFF2-40B4-BE49-F238E27FC236}">
                <a16:creationId xmlns:a16="http://schemas.microsoft.com/office/drawing/2014/main" id="{EF419C9C-5007-5E07-6132-73E510DBAFDE}"/>
              </a:ext>
            </a:extLst>
          </p:cNvPr>
          <p:cNvSpPr/>
          <p:nvPr/>
        </p:nvSpPr>
        <p:spPr>
          <a:xfrm>
            <a:off x="611030" y="1263462"/>
            <a:ext cx="5403123"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adroTexto 14">
            <a:extLst>
              <a:ext uri="{FF2B5EF4-FFF2-40B4-BE49-F238E27FC236}">
                <a16:creationId xmlns:a16="http://schemas.microsoft.com/office/drawing/2014/main" id="{C620DDF0-360A-45A7-F3E9-252DCBDDE23A}"/>
              </a:ext>
            </a:extLst>
          </p:cNvPr>
          <p:cNvSpPr txBox="1"/>
          <p:nvPr/>
        </p:nvSpPr>
        <p:spPr>
          <a:xfrm>
            <a:off x="863651" y="1946980"/>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err="1"/>
              <a:t>alpha</a:t>
            </a:r>
            <a:r>
              <a:rPr lang="es-ES" sz="2000"/>
              <a:t>=4 dB/cm</a:t>
            </a:r>
            <a:endParaRPr lang="en-US" sz="2000"/>
          </a:p>
        </p:txBody>
      </p:sp>
      <p:sp>
        <p:nvSpPr>
          <p:cNvPr id="9" name="Rectángulo 8">
            <a:extLst>
              <a:ext uri="{FF2B5EF4-FFF2-40B4-BE49-F238E27FC236}">
                <a16:creationId xmlns:a16="http://schemas.microsoft.com/office/drawing/2014/main" id="{9D6F2860-42AC-B088-051E-0A2DD7E5E822}"/>
              </a:ext>
            </a:extLst>
          </p:cNvPr>
          <p:cNvSpPr/>
          <p:nvPr/>
        </p:nvSpPr>
        <p:spPr>
          <a:xfrm>
            <a:off x="6265334" y="1263462"/>
            <a:ext cx="5545225"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uadroTexto 9">
            <a:extLst>
              <a:ext uri="{FF2B5EF4-FFF2-40B4-BE49-F238E27FC236}">
                <a16:creationId xmlns:a16="http://schemas.microsoft.com/office/drawing/2014/main" id="{89C15A67-0209-BADC-4A3B-5AA033996FDF}"/>
              </a:ext>
            </a:extLst>
          </p:cNvPr>
          <p:cNvSpPr txBox="1"/>
          <p:nvPr/>
        </p:nvSpPr>
        <p:spPr>
          <a:xfrm>
            <a:off x="3529936" y="1949727"/>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err="1"/>
              <a:t>alpha</a:t>
            </a:r>
            <a:r>
              <a:rPr lang="es-ES" sz="2000"/>
              <a:t>=5 dB/cm</a:t>
            </a:r>
            <a:endParaRPr lang="en-US" sz="2000"/>
          </a:p>
        </p:txBody>
      </p:sp>
      <p:sp>
        <p:nvSpPr>
          <p:cNvPr id="13" name="CuadroTexto 12">
            <a:extLst>
              <a:ext uri="{FF2B5EF4-FFF2-40B4-BE49-F238E27FC236}">
                <a16:creationId xmlns:a16="http://schemas.microsoft.com/office/drawing/2014/main" id="{A3C731A5-FE61-0402-F280-BE887B68B409}"/>
              </a:ext>
            </a:extLst>
          </p:cNvPr>
          <p:cNvSpPr txBox="1"/>
          <p:nvPr/>
        </p:nvSpPr>
        <p:spPr>
          <a:xfrm>
            <a:off x="7010547" y="2041970"/>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err="1"/>
              <a:t>alpha</a:t>
            </a:r>
            <a:r>
              <a:rPr lang="es-ES" sz="2000"/>
              <a:t>=6 dB/cm</a:t>
            </a:r>
            <a:endParaRPr lang="en-US" sz="2000"/>
          </a:p>
        </p:txBody>
      </p:sp>
      <p:sp>
        <p:nvSpPr>
          <p:cNvPr id="16" name="CuadroTexto 15">
            <a:extLst>
              <a:ext uri="{FF2B5EF4-FFF2-40B4-BE49-F238E27FC236}">
                <a16:creationId xmlns:a16="http://schemas.microsoft.com/office/drawing/2014/main" id="{93917D72-553F-D592-0920-F2B7EBCC1CF9}"/>
              </a:ext>
            </a:extLst>
          </p:cNvPr>
          <p:cNvSpPr txBox="1"/>
          <p:nvPr/>
        </p:nvSpPr>
        <p:spPr>
          <a:xfrm>
            <a:off x="8861473" y="1946980"/>
            <a:ext cx="2033313" cy="1938992"/>
          </a:xfrm>
          <a:prstGeom prst="rect">
            <a:avLst/>
          </a:prstGeom>
          <a:noFill/>
        </p:spPr>
        <p:txBody>
          <a:bodyPr wrap="none" rtlCol="0">
            <a:spAutoFit/>
          </a:bodyPr>
          <a:lstStyle/>
          <a:p>
            <a:pPr algn="ctr"/>
            <a:r>
              <a:rPr lang="es-ES" sz="2000"/>
              <a:t>Single ring</a:t>
            </a:r>
          </a:p>
          <a:p>
            <a:pPr algn="ctr"/>
            <a:r>
              <a:rPr lang="es-ES" sz="2000"/>
              <a:t>transfer </a:t>
            </a:r>
            <a:r>
              <a:rPr lang="es-ES" sz="2000" err="1"/>
              <a:t>functions</a:t>
            </a:r>
            <a:endParaRPr lang="es-ES" sz="2000"/>
          </a:p>
          <a:p>
            <a:pPr algn="ctr"/>
            <a:endParaRPr lang="es-ES" sz="2000"/>
          </a:p>
          <a:p>
            <a:pPr algn="ctr"/>
            <a:r>
              <a:rPr lang="es-ES" sz="2000"/>
              <a:t>Linear </a:t>
            </a:r>
            <a:r>
              <a:rPr lang="es-ES" sz="2000" err="1"/>
              <a:t>units</a:t>
            </a:r>
            <a:endParaRPr lang="es-ES" sz="2000"/>
          </a:p>
          <a:p>
            <a:pPr algn="ctr"/>
            <a:endParaRPr lang="es-ES" sz="2000"/>
          </a:p>
          <a:p>
            <a:pPr algn="ctr"/>
            <a:r>
              <a:rPr lang="es-ES" sz="2000" err="1"/>
              <a:t>alpha</a:t>
            </a:r>
            <a:r>
              <a:rPr lang="es-ES" sz="2000"/>
              <a:t>=7 dB/cm</a:t>
            </a:r>
            <a:endParaRPr lang="en-US" sz="2000"/>
          </a:p>
        </p:txBody>
      </p:sp>
      <p:pic>
        <p:nvPicPr>
          <p:cNvPr id="17" name="Gráfico 16">
            <a:extLst>
              <a:ext uri="{FF2B5EF4-FFF2-40B4-BE49-F238E27FC236}">
                <a16:creationId xmlns:a16="http://schemas.microsoft.com/office/drawing/2014/main" id="{5EFBF0D5-49A9-426D-B7C2-8DEFF5F8886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8" name="object 16">
            <a:extLst>
              <a:ext uri="{FF2B5EF4-FFF2-40B4-BE49-F238E27FC236}">
                <a16:creationId xmlns:a16="http://schemas.microsoft.com/office/drawing/2014/main" id="{85BCEB94-6CC1-3A4C-891A-B377A96BA86E}"/>
              </a:ext>
            </a:extLst>
          </p:cNvPr>
          <p:cNvSpPr txBox="1">
            <a:spLocks/>
          </p:cNvSpPr>
          <p:nvPr/>
        </p:nvSpPr>
        <p:spPr>
          <a:xfrm>
            <a:off x="685800" y="408883"/>
            <a:ext cx="10994410" cy="71814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2500" kern="0"/>
              <a:t>Learning outcome #6b – E</a:t>
            </a:r>
            <a:r>
              <a:rPr lang="en-US" sz="2500"/>
              <a:t>ffect of loss</a:t>
            </a:r>
            <a:endParaRPr lang="en-US" sz="2500" kern="0"/>
          </a:p>
          <a:p>
            <a:pPr marL="12700">
              <a:spcBef>
                <a:spcPts val="100"/>
              </a:spcBef>
            </a:pPr>
            <a:r>
              <a:rPr lang="en-US" b="0" kern="0" spc="-5">
                <a:latin typeface="+mj-lt"/>
                <a:cs typeface="Lucida Sans"/>
              </a:rPr>
              <a:t>Change losses value between 0 and 8 </a:t>
            </a:r>
            <a:r>
              <a:rPr lang="en-US" b="0" kern="0" spc="-5">
                <a:solidFill>
                  <a:srgbClr val="FF0000"/>
                </a:solidFill>
                <a:latin typeface="+mj-lt"/>
                <a:cs typeface="Lucida Sans"/>
              </a:rPr>
              <a:t>dB/cm </a:t>
            </a:r>
            <a:r>
              <a:rPr lang="en-US" b="0" kern="0" spc="-5">
                <a:latin typeface="+mj-lt"/>
                <a:cs typeface="Lucida Sans"/>
              </a:rPr>
              <a:t>in steps of 1</a:t>
            </a:r>
          </a:p>
        </p:txBody>
      </p:sp>
      <p:pic>
        <p:nvPicPr>
          <p:cNvPr id="3" name="Imagen 2">
            <a:extLst>
              <a:ext uri="{FF2B5EF4-FFF2-40B4-BE49-F238E27FC236}">
                <a16:creationId xmlns:a16="http://schemas.microsoft.com/office/drawing/2014/main" id="{0EA33563-A6E8-910A-AF9E-37F343F70D5F}"/>
              </a:ext>
            </a:extLst>
          </p:cNvPr>
          <p:cNvPicPr>
            <a:picLocks noChangeAspect="1"/>
          </p:cNvPicPr>
          <p:nvPr/>
        </p:nvPicPr>
        <p:blipFill>
          <a:blip r:embed="rId3"/>
          <a:srcRect b="52452"/>
          <a:stretch>
            <a:fillRect/>
          </a:stretch>
        </p:blipFill>
        <p:spPr>
          <a:xfrm>
            <a:off x="738780" y="1492377"/>
            <a:ext cx="5147621" cy="2848197"/>
          </a:xfrm>
          <a:prstGeom prst="rect">
            <a:avLst/>
          </a:prstGeom>
        </p:spPr>
      </p:pic>
      <p:pic>
        <p:nvPicPr>
          <p:cNvPr id="7" name="Imagen 6">
            <a:extLst>
              <a:ext uri="{FF2B5EF4-FFF2-40B4-BE49-F238E27FC236}">
                <a16:creationId xmlns:a16="http://schemas.microsoft.com/office/drawing/2014/main" id="{A769864C-4E2D-CE01-C44D-5193711A7ADC}"/>
              </a:ext>
            </a:extLst>
          </p:cNvPr>
          <p:cNvPicPr>
            <a:picLocks noChangeAspect="1"/>
          </p:cNvPicPr>
          <p:nvPr/>
        </p:nvPicPr>
        <p:blipFill>
          <a:blip r:embed="rId3"/>
          <a:srcRect t="50000"/>
          <a:stretch>
            <a:fillRect/>
          </a:stretch>
        </p:blipFill>
        <p:spPr>
          <a:xfrm>
            <a:off x="6556878" y="1433655"/>
            <a:ext cx="5123333" cy="2980924"/>
          </a:xfrm>
          <a:prstGeom prst="rect">
            <a:avLst/>
          </a:prstGeom>
        </p:spPr>
      </p:pic>
    </p:spTree>
    <p:extLst>
      <p:ext uri="{BB962C8B-B14F-4D97-AF65-F5344CB8AC3E}">
        <p14:creationId xmlns:p14="http://schemas.microsoft.com/office/powerpoint/2010/main" val="3908558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687df890-2601-448c-be3c-56e27ed810c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3E1E002B17413842B52C919604DA6A27" ma:contentTypeVersion="14" ma:contentTypeDescription="Crear nuevo documento." ma:contentTypeScope="" ma:versionID="c28be6b225bdaf66a4167d65a283f3d5">
  <xsd:schema xmlns:xsd="http://www.w3.org/2001/XMLSchema" xmlns:xs="http://www.w3.org/2001/XMLSchema" xmlns:p="http://schemas.microsoft.com/office/2006/metadata/properties" xmlns:ns3="687df890-2601-448c-be3c-56e27ed810cd" xmlns:ns4="3b26aeef-a858-43c9-b8af-7466d1d07be8" targetNamespace="http://schemas.microsoft.com/office/2006/metadata/properties" ma:root="true" ma:fieldsID="c043bf8148dcb21a4963f612d8276dca" ns3:_="" ns4:_="">
    <xsd:import namespace="687df890-2601-448c-be3c-56e27ed810cd"/>
    <xsd:import namespace="3b26aeef-a858-43c9-b8af-7466d1d07be8"/>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DateTaken" minOccurs="0"/>
                <xsd:element ref="ns3:MediaServiceAutoTags" minOccurs="0"/>
                <xsd:element ref="ns3:MediaLengthInSeconds" minOccurs="0"/>
                <xsd:element ref="ns3:MediaServiceObjectDetectorVersions"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7df890-2601-448c-be3c-56e27ed810cd"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b26aeef-a858-43c9-b8af-7466d1d07be8" elementFormDefault="qualified">
    <xsd:import namespace="http://schemas.microsoft.com/office/2006/documentManagement/types"/>
    <xsd:import namespace="http://schemas.microsoft.com/office/infopath/2007/PartnerControls"/>
    <xsd:element name="SharedWithUsers" ma:index="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Detalles de uso compartido" ma:internalName="SharedWithDetails" ma:readOnly="true">
      <xsd:simpleType>
        <xsd:restriction base="dms:Note">
          <xsd:maxLength value="255"/>
        </xsd:restriction>
      </xsd:simpleType>
    </xsd:element>
    <xsd:element name="SharingHintHash" ma:index="11"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216CF8E-2A0E-4801-B8F3-DA9DF38B3553}">
  <ds:schemaRefs>
    <ds:schemaRef ds:uri="http://schemas.microsoft.com/sharepoint/v3/contenttype/forms"/>
  </ds:schemaRefs>
</ds:datastoreItem>
</file>

<file path=customXml/itemProps2.xml><?xml version="1.0" encoding="utf-8"?>
<ds:datastoreItem xmlns:ds="http://schemas.openxmlformats.org/officeDocument/2006/customXml" ds:itemID="{7F7DA6E9-2668-4C5D-AC7A-873E11908874}">
  <ds:schemaRefs>
    <ds:schemaRef ds:uri="http://schemas.openxmlformats.org/package/2006/metadata/core-properties"/>
    <ds:schemaRef ds:uri="http://purl.org/dc/elements/1.1/"/>
    <ds:schemaRef ds:uri="http://schemas.microsoft.com/office/2006/documentManagement/types"/>
    <ds:schemaRef ds:uri="http://purl.org/dc/dcmitype/"/>
    <ds:schemaRef ds:uri="http://purl.org/dc/terms/"/>
    <ds:schemaRef ds:uri="http://schemas.microsoft.com/office/infopath/2007/PartnerControls"/>
    <ds:schemaRef ds:uri="3b26aeef-a858-43c9-b8af-7466d1d07be8"/>
    <ds:schemaRef ds:uri="687df890-2601-448c-be3c-56e27ed810cd"/>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1DADF770-9350-4CAC-92F5-86107250994E}">
  <ds:schemaRefs>
    <ds:schemaRef ds:uri="3b26aeef-a858-43c9-b8af-7466d1d07be8"/>
    <ds:schemaRef ds:uri="687df890-2601-448c-be3c-56e27ed810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37</TotalTime>
  <Words>2524</Words>
  <Application>Microsoft Office PowerPoint</Application>
  <PresentationFormat>Panorámica</PresentationFormat>
  <Paragraphs>259</Paragraphs>
  <Slides>13</Slides>
  <Notes>2</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13</vt:i4>
      </vt:variant>
    </vt:vector>
  </HeadingPairs>
  <TitlesOfParts>
    <vt:vector size="20" baseType="lpstr">
      <vt:lpstr>Aptos</vt:lpstr>
      <vt:lpstr>Arial</vt:lpstr>
      <vt:lpstr>Calibri</vt:lpstr>
      <vt:lpstr>Cambria Math</vt:lpstr>
      <vt:lpstr>Lucida Sans</vt:lpstr>
      <vt:lpstr>Wingdings</vt:lpstr>
      <vt:lpstr>Office Theme</vt:lpstr>
      <vt:lpstr>Presentación de PowerPoint</vt:lpstr>
      <vt:lpstr>Instructions General</vt:lpstr>
      <vt:lpstr>Learning outcome #1a – Perfectly 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Blanca Bueno Martinez</cp:lastModifiedBy>
  <cp:revision>2</cp:revision>
  <dcterms:created xsi:type="dcterms:W3CDTF">2025-01-27T02:46:57Z</dcterms:created>
  <dcterms:modified xsi:type="dcterms:W3CDTF">2026-05-29T09:06:07Z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0x0101003E1E002B17413842B52C919604DA6A27</vt:lpwstr>
  </property>
</Properties>
</file>